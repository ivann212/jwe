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Ivann Rambaud. Je suis en formation à distance au Centre Européen de Formation pour le titre de Développeur Web et Web Mobile. Je vous présente mon Dossier de Projet, construit autour de mon projet personnel JWE, Jurassic World Enclos.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suivre le plan de mon Dossier de Projet : présentation du projet, analyse et conception, développement, tests et validation, documentation, puis bilan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jeu, l'attrait touristique varie énormément selon les espèces — jusqu'à un facteur 100 entre un Mosasaure et un Struthiomimus. Mais on ne connaît les compatibilités qu'après une extraction de génome coûteuse en temps, ce qui pénalise surtout les défis chronométrés. C'est ce problème concret, rencontré en jouant, qui a motivé le développement de JWE.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JWE répond à ce problème avec trois besoins : vérifier la compatibilité, une sélection dynamique avec mise à jour en direct, et la gestion des fiches dinosaures — sans API publique du jeu, saisie manuelle.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choisi Django car c'est le langage que je maîtrise le mieux, et sa base SQLite native limitait les sources de bugs de configuration pour un projet solo. Le passage à PostgreSQL et Cloudinary en production est venu plus tard, au moment du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n'avais pas pensé au responsive au départ, l'application étant destinée à mon usage personnel. J'ai ajouté deux points de rupture, à 900px et 600px. Sur la maquette de refonte, je reste transparent : la démarche est amorcée mais non finalisée à ce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exact : le clic déclenche ma fonction ajouterDino(), qui met à jour le tableau côté client, puis chargerCompatibles() appelle mon API JSON en fetch(). Le serveur répond avec get_compatibles(), et afficherCompatibles() met à jour le DOM. Toute la séquence se fait sans rechargement de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modélisé les affinités aime et n'aime pas comme des relations ManyToMany vers le modèle lui-même, avec symmetrical=False — un choix que j'ai remis en question a posteriori. Côté accès aux données, get_compatibles() réutilise verifier_compatibilite() comme composant réutilisable ; en la relisant pour ce dossier, j'ai corrigé une fuite d'information où le message d'erreur Python brut était renvoyé tel quel au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veille sécurité m'a fait corriger DEBUG=True en production, une fuite d'information via str(e), et une SECRET_KEY exposée. Côté déploiement, cinq incidents réels diagnostiqués un par un : une base PostgreSQL expirée après la durée du plan gratuit Render, une dépendance manquante, un timeout Gunicorn sur un upload d'image de 8,56 Mo — réglé en passant le timeout à 120 secondes — et des variables Cloudinary mal nommées. L'absence d'authentification reste un choix assumé pour ce projet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fonctionnalité la plus représentative de mon projet, couverte par 14 tests unitaires, tous réussis — dont un test dédié à l'exception des charognards. Chaque test suit le schéma Arrange/Act/Assert, et Django recrée une base de test isolée, annulée après chaque cas. Avant ce projet, je n'écrivais pas de tests ; ce projet m'a permis de comprendre qu'ils protègent contre les régressions et documentent le comportement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propose quatre pages principales : accueil, liste des dinosaures avec filtre, ajout d'une fiche, et simulation d'enclos — la page qui concentre l'essentiel de la valeur ajoutée du projet. Techniquement, tout est regroupé dans une unique app Django, avec les médias sur Cloudinary et les fichiers statiques servis via WhiteNoise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 points forts : préparer la logique au brouillon avant de coder, et remettre en question mes propres choix techniques après coup. Mon axe de progression prioritaire porte sur ma maîtrise fine de la syntaxe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couvre les six compétences obligatoires du référentiel : les trois du CCP1 côté front-end, avec une compétence de maquettage encore en cours de consolidation, et les trois du CCP2 côté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JWE est né d'un besoin personnel, et m'a permis de couvrir l'ensemble du cycle de vie d'une application en autonomie complète. Je vous remercie de votre attention et reste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1920240"/>
            <a:ext cx="9144000" cy="365760"/>
          </a:xfrm>
          <a:prstGeom prst="rect">
            <a:avLst/>
          </a:prstGeom>
          <a:noFill/>
          <a:ln/>
        </p:spPr>
        <p:txBody>
          <a:bodyPr wrap="square" lIns="0" tIns="0" rIns="0" bIns="0" rtlCol="0" anchor="ctr"/>
          <a:lstStyle/>
          <a:p>
            <a:pPr indent="0" marL="0">
              <a:buNone/>
            </a:pPr>
            <a:r>
              <a:rPr lang="en-US" sz="1300" b="1" spc="200" kern="0" dirty="0">
                <a:solidFill>
                  <a:srgbClr val="C9A227"/>
                </a:solidFill>
                <a:latin typeface="Calibri" pitchFamily="34" charset="0"/>
                <a:ea typeface="Calibri" pitchFamily="34" charset="-122"/>
                <a:cs typeface="Calibri" pitchFamily="34" charset="-120"/>
              </a:rPr>
              <a:t>TITRE PROFESSIONNEL — DÉVELOPPEUR WEB ET WEB MOBILE</a:t>
            </a:r>
            <a:endParaRPr lang="en-US" sz="1300" dirty="0"/>
          </a:p>
        </p:txBody>
      </p:sp>
      <p:sp>
        <p:nvSpPr>
          <p:cNvPr id="3" name="Text 1"/>
          <p:cNvSpPr txBox="1"/>
          <p:nvPr/>
        </p:nvSpPr>
        <p:spPr>
          <a:xfrm>
            <a:off x="548640" y="2331720"/>
            <a:ext cx="10515600" cy="1188720"/>
          </a:xfrm>
          <a:prstGeom prst="rect">
            <a:avLst/>
          </a:prstGeom>
          <a:noFill/>
          <a:ln/>
        </p:spPr>
        <p:txBody>
          <a:bodyPr wrap="square" lIns="0" tIns="0" rIns="0" bIns="0" rtlCol="0" anchor="ctr"/>
          <a:lstStyle/>
          <a:p>
            <a:pPr indent="0" marL="0">
              <a:buNone/>
            </a:pPr>
            <a:r>
              <a:rPr lang="en-US" sz="4400" b="1" dirty="0">
                <a:solidFill>
                  <a:srgbClr val="F5F1E6"/>
                </a:solidFill>
                <a:latin typeface="Cambria" pitchFamily="34" charset="0"/>
                <a:ea typeface="Cambria" pitchFamily="34" charset="-122"/>
                <a:cs typeface="Cambria" pitchFamily="34" charset="-120"/>
              </a:rPr>
              <a:t>JWE — Jurassic World Enclos</a:t>
            </a:r>
            <a:endParaRPr lang="en-US" sz="4400" dirty="0"/>
          </a:p>
        </p:txBody>
      </p:sp>
      <p:sp>
        <p:nvSpPr>
          <p:cNvPr id="4" name="Text 2"/>
          <p:cNvSpPr txBox="1"/>
          <p:nvPr/>
        </p:nvSpPr>
        <p:spPr>
          <a:xfrm>
            <a:off x="548640" y="3429000"/>
            <a:ext cx="9144000" cy="502920"/>
          </a:xfrm>
          <a:prstGeom prst="rect">
            <a:avLst/>
          </a:prstGeom>
          <a:noFill/>
          <a:ln/>
        </p:spPr>
        <p:txBody>
          <a:bodyPr wrap="square" lIns="0" tIns="0" rIns="0" bIns="0" rtlCol="0" anchor="ctr"/>
          <a:lstStyle/>
          <a:p>
            <a:pPr indent="0" marL="0">
              <a:buNone/>
            </a:pPr>
            <a:r>
              <a:rPr lang="en-US" sz="2000" dirty="0">
                <a:solidFill>
                  <a:srgbClr val="C7D0CA"/>
                </a:solidFill>
                <a:latin typeface="Calibri" pitchFamily="34" charset="0"/>
                <a:ea typeface="Calibri" pitchFamily="34" charset="-122"/>
                <a:cs typeface="Calibri" pitchFamily="34" charset="-120"/>
              </a:rPr>
              <a:t>Soutenance orale — Dossier de Projet</a:t>
            </a:r>
            <a:endParaRPr lang="en-US" sz="2000" dirty="0"/>
          </a:p>
        </p:txBody>
      </p:sp>
      <p:sp>
        <p:nvSpPr>
          <p:cNvPr id="5" name="Shape 3"/>
          <p:cNvSpPr/>
          <p:nvPr/>
        </p:nvSpPr>
        <p:spPr>
          <a:xfrm>
            <a:off x="548640" y="4160520"/>
            <a:ext cx="548640" cy="36576"/>
          </a:xfrm>
          <a:prstGeom prst="rect">
            <a:avLst/>
          </a:prstGeom>
          <a:solidFill>
            <a:srgbClr val="C9A227"/>
          </a:solidFill>
          <a:ln/>
        </p:spPr>
      </p:sp>
      <p:sp>
        <p:nvSpPr>
          <p:cNvPr id="6" name="Text 4"/>
          <p:cNvSpPr txBox="1"/>
          <p:nvPr/>
        </p:nvSpPr>
        <p:spPr>
          <a:xfrm>
            <a:off x="548640" y="4343400"/>
            <a:ext cx="7315200" cy="365760"/>
          </a:xfrm>
          <a:prstGeom prst="rect">
            <a:avLst/>
          </a:prstGeom>
          <a:noFill/>
          <a:ln/>
        </p:spPr>
        <p:txBody>
          <a:bodyPr wrap="square" lIns="0" tIns="0" rIns="0" bIns="0" rtlCol="0" anchor="ctr"/>
          <a:lstStyle/>
          <a:p>
            <a:pPr indent="0" marL="0">
              <a:buNone/>
            </a:pPr>
            <a:r>
              <a:rPr lang="en-US" sz="1600" b="1" dirty="0">
                <a:solidFill>
                  <a:srgbClr val="F5F1E6"/>
                </a:solidFill>
                <a:latin typeface="Calibri" pitchFamily="34" charset="0"/>
                <a:ea typeface="Calibri" pitchFamily="34" charset="-122"/>
                <a:cs typeface="Calibri" pitchFamily="34" charset="-120"/>
              </a:rPr>
              <a:t>Ivann RAMBAUD</a:t>
            </a:r>
            <a:endParaRPr lang="en-US" sz="1600" dirty="0"/>
          </a:p>
        </p:txBody>
      </p:sp>
      <p:sp>
        <p:nvSpPr>
          <p:cNvPr id="7" name="Text 5"/>
          <p:cNvSpPr txBox="1"/>
          <p:nvPr/>
        </p:nvSpPr>
        <p:spPr>
          <a:xfrm>
            <a:off x="548640" y="4709160"/>
            <a:ext cx="7315200" cy="320040"/>
          </a:xfrm>
          <a:prstGeom prst="rect">
            <a:avLst/>
          </a:prstGeom>
          <a:noFill/>
          <a:ln/>
        </p:spPr>
        <p:txBody>
          <a:bodyPr wrap="square" lIns="0" tIns="0" rIns="0" bIns="0" rtlCol="0" anchor="ctr"/>
          <a:lstStyle/>
          <a:p>
            <a:pPr indent="0" marL="0">
              <a:buNone/>
            </a:pPr>
            <a:r>
              <a:rPr lang="en-US" sz="1200" dirty="0">
                <a:solidFill>
                  <a:srgbClr val="8FA396"/>
                </a:solidFill>
                <a:latin typeface="Calibri" pitchFamily="34" charset="0"/>
                <a:ea typeface="Calibri" pitchFamily="34" charset="-122"/>
                <a:cs typeface="Calibri" pitchFamily="34" charset="-120"/>
              </a:rPr>
              <a:t>TP-01280  ·  Session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SOMMAIRE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3200" b="1" dirty="0">
                <a:solidFill>
                  <a:srgbClr val="1B2E23"/>
                </a:solidFill>
                <a:latin typeface="Cambria" pitchFamily="34" charset="0"/>
                <a:ea typeface="Cambria" pitchFamily="34" charset="-122"/>
                <a:cs typeface="Cambria" pitchFamily="34" charset="-120"/>
              </a:rPr>
              <a:t>Plan de la présentation</a:t>
            </a:r>
            <a:endParaRPr lang="en-US" sz="3200" dirty="0"/>
          </a:p>
        </p:txBody>
      </p:sp>
      <p:sp>
        <p:nvSpPr>
          <p:cNvPr id="4" name="Shape 2"/>
          <p:cNvSpPr/>
          <p:nvPr/>
        </p:nvSpPr>
        <p:spPr>
          <a:xfrm>
            <a:off x="548640" y="1691640"/>
            <a:ext cx="438912" cy="438912"/>
          </a:xfrm>
          <a:prstGeom prst="ellipse">
            <a:avLst/>
          </a:prstGeom>
          <a:solidFill>
            <a:srgbClr val="C9A227"/>
          </a:solidFill>
          <a:ln/>
        </p:spPr>
      </p:sp>
      <p:sp>
        <p:nvSpPr>
          <p:cNvPr id="5" name="Text 3"/>
          <p:cNvSpPr txBox="1"/>
          <p:nvPr/>
        </p:nvSpPr>
        <p:spPr>
          <a:xfrm>
            <a:off x="548640" y="169164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70432" y="166420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Présentation du projet</a:t>
            </a:r>
            <a:endParaRPr lang="en-US" sz="1500" dirty="0"/>
          </a:p>
        </p:txBody>
      </p:sp>
      <p:sp>
        <p:nvSpPr>
          <p:cNvPr id="7" name="Text 5"/>
          <p:cNvSpPr txBox="1"/>
          <p:nvPr/>
        </p:nvSpPr>
        <p:spPr>
          <a:xfrm>
            <a:off x="1170432" y="196596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Contexte, besoin identifié, la solution JWE</a:t>
            </a:r>
            <a:endParaRPr lang="en-US" sz="1150" dirty="0"/>
          </a:p>
        </p:txBody>
      </p:sp>
      <p:sp>
        <p:nvSpPr>
          <p:cNvPr id="8" name="Shape 6"/>
          <p:cNvSpPr/>
          <p:nvPr/>
        </p:nvSpPr>
        <p:spPr>
          <a:xfrm>
            <a:off x="548640" y="2468880"/>
            <a:ext cx="438912" cy="438912"/>
          </a:xfrm>
          <a:prstGeom prst="ellipse">
            <a:avLst/>
          </a:prstGeom>
          <a:solidFill>
            <a:srgbClr val="C9A227"/>
          </a:solidFill>
          <a:ln/>
        </p:spPr>
      </p:sp>
      <p:sp>
        <p:nvSpPr>
          <p:cNvPr id="9" name="Text 7"/>
          <p:cNvSpPr txBox="1"/>
          <p:nvPr/>
        </p:nvSpPr>
        <p:spPr>
          <a:xfrm>
            <a:off x="548640" y="246888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170432" y="244144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Analyse et conception</a:t>
            </a:r>
            <a:endParaRPr lang="en-US" sz="1500" dirty="0"/>
          </a:p>
        </p:txBody>
      </p:sp>
      <p:sp>
        <p:nvSpPr>
          <p:cNvPr id="11" name="Text 9"/>
          <p:cNvSpPr txBox="1"/>
          <p:nvPr/>
        </p:nvSpPr>
        <p:spPr>
          <a:xfrm>
            <a:off x="1170432" y="274320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Choix technologiques, maquette et responsive</a:t>
            </a:r>
            <a:endParaRPr lang="en-US" sz="1150" dirty="0"/>
          </a:p>
        </p:txBody>
      </p:sp>
      <p:sp>
        <p:nvSpPr>
          <p:cNvPr id="12" name="Shape 10"/>
          <p:cNvSpPr/>
          <p:nvPr/>
        </p:nvSpPr>
        <p:spPr>
          <a:xfrm>
            <a:off x="548640" y="3246120"/>
            <a:ext cx="438912" cy="438912"/>
          </a:xfrm>
          <a:prstGeom prst="ellipse">
            <a:avLst/>
          </a:prstGeom>
          <a:solidFill>
            <a:srgbClr val="C9A227"/>
          </a:solidFill>
          <a:ln/>
        </p:spPr>
      </p:sp>
      <p:sp>
        <p:nvSpPr>
          <p:cNvPr id="13" name="Text 11"/>
          <p:cNvSpPr txBox="1"/>
          <p:nvPr/>
        </p:nvSpPr>
        <p:spPr>
          <a:xfrm>
            <a:off x="548640" y="324612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70432" y="321868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Développement</a:t>
            </a:r>
            <a:endParaRPr lang="en-US" sz="1500" dirty="0"/>
          </a:p>
        </p:txBody>
      </p:sp>
      <p:sp>
        <p:nvSpPr>
          <p:cNvPr id="15" name="Text 13"/>
          <p:cNvSpPr txBox="1"/>
          <p:nvPr/>
        </p:nvSpPr>
        <p:spPr>
          <a:xfrm>
            <a:off x="1170432" y="352044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Démonstration, extraits de code, sécurité, déploiement</a:t>
            </a:r>
            <a:endParaRPr lang="en-US" sz="1150" dirty="0"/>
          </a:p>
        </p:txBody>
      </p:sp>
      <p:sp>
        <p:nvSpPr>
          <p:cNvPr id="16" name="Shape 14"/>
          <p:cNvSpPr/>
          <p:nvPr/>
        </p:nvSpPr>
        <p:spPr>
          <a:xfrm>
            <a:off x="548640" y="4023360"/>
            <a:ext cx="438912" cy="438912"/>
          </a:xfrm>
          <a:prstGeom prst="ellipse">
            <a:avLst/>
          </a:prstGeom>
          <a:solidFill>
            <a:srgbClr val="C9A227"/>
          </a:solidFill>
          <a:ln/>
        </p:spPr>
      </p:sp>
      <p:sp>
        <p:nvSpPr>
          <p:cNvPr id="17" name="Text 15"/>
          <p:cNvSpPr txBox="1"/>
          <p:nvPr/>
        </p:nvSpPr>
        <p:spPr>
          <a:xfrm>
            <a:off x="548640" y="402336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170432" y="399592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Tests et validation</a:t>
            </a:r>
            <a:endParaRPr lang="en-US" sz="1500" dirty="0"/>
          </a:p>
        </p:txBody>
      </p:sp>
      <p:sp>
        <p:nvSpPr>
          <p:cNvPr id="19" name="Text 17"/>
          <p:cNvSpPr txBox="1"/>
          <p:nvPr/>
        </p:nvSpPr>
        <p:spPr>
          <a:xfrm>
            <a:off x="1170432" y="429768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Jeu d'essai, méthodologie</a:t>
            </a:r>
            <a:endParaRPr lang="en-US" sz="1150" dirty="0"/>
          </a:p>
        </p:txBody>
      </p:sp>
      <p:sp>
        <p:nvSpPr>
          <p:cNvPr id="20" name="Shape 18"/>
          <p:cNvSpPr/>
          <p:nvPr/>
        </p:nvSpPr>
        <p:spPr>
          <a:xfrm>
            <a:off x="548640" y="4800600"/>
            <a:ext cx="438912" cy="438912"/>
          </a:xfrm>
          <a:prstGeom prst="ellipse">
            <a:avLst/>
          </a:prstGeom>
          <a:solidFill>
            <a:srgbClr val="C9A227"/>
          </a:solidFill>
          <a:ln/>
        </p:spPr>
      </p:sp>
      <p:sp>
        <p:nvSpPr>
          <p:cNvPr id="21" name="Text 19"/>
          <p:cNvSpPr txBox="1"/>
          <p:nvPr/>
        </p:nvSpPr>
        <p:spPr>
          <a:xfrm>
            <a:off x="548640" y="480060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170432" y="477316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Documentation</a:t>
            </a:r>
            <a:endParaRPr lang="en-US" sz="1500" dirty="0"/>
          </a:p>
        </p:txBody>
      </p:sp>
      <p:sp>
        <p:nvSpPr>
          <p:cNvPr id="23" name="Text 21"/>
          <p:cNvSpPr txBox="1"/>
          <p:nvPr/>
        </p:nvSpPr>
        <p:spPr>
          <a:xfrm>
            <a:off x="1170432" y="507492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Pages de l'application, routes</a:t>
            </a:r>
            <a:endParaRPr lang="en-US" sz="1150" dirty="0"/>
          </a:p>
        </p:txBody>
      </p:sp>
      <p:sp>
        <p:nvSpPr>
          <p:cNvPr id="24" name="Shape 22"/>
          <p:cNvSpPr/>
          <p:nvPr/>
        </p:nvSpPr>
        <p:spPr>
          <a:xfrm>
            <a:off x="548640" y="5577840"/>
            <a:ext cx="438912" cy="438912"/>
          </a:xfrm>
          <a:prstGeom prst="ellipse">
            <a:avLst/>
          </a:prstGeom>
          <a:solidFill>
            <a:srgbClr val="C9A227"/>
          </a:solidFill>
          <a:ln/>
        </p:spPr>
      </p:sp>
      <p:sp>
        <p:nvSpPr>
          <p:cNvPr id="25" name="Text 23"/>
          <p:cNvSpPr txBox="1"/>
          <p:nvPr/>
        </p:nvSpPr>
        <p:spPr>
          <a:xfrm>
            <a:off x="548640" y="5577840"/>
            <a:ext cx="438912" cy="438912"/>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170432" y="5550408"/>
            <a:ext cx="7315200" cy="365760"/>
          </a:xfrm>
          <a:prstGeom prst="rect">
            <a:avLst/>
          </a:prstGeom>
          <a:noFill/>
          <a:ln/>
        </p:spPr>
        <p:txBody>
          <a:bodyPr wrap="square" lIns="0" tIns="0" rIns="0" bIns="0" rtlCol="0" anchor="ctr"/>
          <a:lstStyle/>
          <a:p>
            <a:pPr indent="0" marL="0">
              <a:buNone/>
            </a:pPr>
            <a:r>
              <a:rPr lang="en-US" sz="1500" b="1" dirty="0">
                <a:solidFill>
                  <a:srgbClr val="24332B"/>
                </a:solidFill>
                <a:latin typeface="Calibri" pitchFamily="34" charset="0"/>
                <a:ea typeface="Calibri" pitchFamily="34" charset="-122"/>
                <a:cs typeface="Calibri" pitchFamily="34" charset="-120"/>
              </a:rPr>
              <a:t>Bilan personnel</a:t>
            </a:r>
            <a:endParaRPr lang="en-US" sz="1500" dirty="0"/>
          </a:p>
        </p:txBody>
      </p:sp>
      <p:sp>
        <p:nvSpPr>
          <p:cNvPr id="27" name="Text 25"/>
          <p:cNvSpPr txBox="1"/>
          <p:nvPr/>
        </p:nvSpPr>
        <p:spPr>
          <a:xfrm>
            <a:off x="1170432" y="5852160"/>
            <a:ext cx="8229600" cy="320040"/>
          </a:xfrm>
          <a:prstGeom prst="rect">
            <a:avLst/>
          </a:prstGeom>
          <a:noFill/>
          <a:ln/>
        </p:spPr>
        <p:txBody>
          <a:bodyPr wrap="square" lIns="0" tIns="0" rIns="0" bIns="0" rtlCol="0" anchor="ctr"/>
          <a:lstStyle/>
          <a:p>
            <a:pPr indent="0" marL="0">
              <a:buNone/>
            </a:pPr>
            <a:r>
              <a:rPr lang="en-US" sz="1150" dirty="0">
                <a:solidFill>
                  <a:srgbClr val="6E7C73"/>
                </a:solidFill>
                <a:latin typeface="Calibri" pitchFamily="34" charset="0"/>
                <a:ea typeface="Calibri" pitchFamily="34" charset="-122"/>
                <a:cs typeface="Calibri" pitchFamily="34" charset="-120"/>
              </a:rPr>
              <a:t>Points forts, axes de progression, référentiel</a:t>
            </a:r>
            <a:endParaRPr lang="en-US" sz="1150" dirty="0"/>
          </a:p>
        </p:txBody>
      </p:sp>
      <p:sp>
        <p:nvSpPr>
          <p:cNvPr id="28" name="Text 26"/>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2 / 14</a:t>
            </a:r>
            <a:endParaRPr lang="en-US" sz="1000" dirty="0"/>
          </a:p>
        </p:txBody>
      </p:sp>
      <p:sp>
        <p:nvSpPr>
          <p:cNvPr id="29" name="Text 2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1. PRÉSENTATION DU PROJET — CONTEXTE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600" b="1" dirty="0">
                <a:solidFill>
                  <a:srgbClr val="F5F1E6"/>
                </a:solidFill>
                <a:latin typeface="Cambria" pitchFamily="34" charset="0"/>
                <a:ea typeface="Cambria" pitchFamily="34" charset="-122"/>
                <a:cs typeface="Cambria" pitchFamily="34" charset="-120"/>
              </a:rPr>
              <a:t>Le problème, dans Jurassic World Evolution 2</a:t>
            </a:r>
            <a:endParaRPr lang="en-US" sz="2600" dirty="0"/>
          </a:p>
        </p:txBody>
      </p:sp>
      <p:sp>
        <p:nvSpPr>
          <p:cNvPr id="4" name="Text 2"/>
          <p:cNvSpPr txBox="1"/>
          <p:nvPr/>
        </p:nvSpPr>
        <p:spPr>
          <a:xfrm>
            <a:off x="548640" y="1600200"/>
            <a:ext cx="10424160" cy="1005840"/>
          </a:xfrm>
          <a:prstGeom prst="rect">
            <a:avLst/>
          </a:prstGeom>
          <a:noFill/>
          <a:ln/>
        </p:spPr>
        <p:txBody>
          <a:bodyPr wrap="square" lIns="0" tIns="0" rIns="0" bIns="0" rtlCol="0" anchor="ctr"/>
          <a:lstStyle/>
          <a:p>
            <a:pPr indent="0" marL="0">
              <a:lnSpc>
                <a:spcPct val="125000"/>
              </a:lnSpc>
              <a:buNone/>
            </a:pPr>
            <a:r>
              <a:rPr lang="en-US" sz="1350" dirty="0">
                <a:solidFill>
                  <a:srgbClr val="F5F1E6"/>
                </a:solidFill>
                <a:latin typeface="Calibri" pitchFamily="34" charset="0"/>
                <a:ea typeface="Calibri" pitchFamily="34" charset="-122"/>
                <a:cs typeface="Calibri" pitchFamily="34" charset="-120"/>
              </a:rPr>
              <a:t>L'</a:t>
            </a:r>
            <a:pPr indent="0" marL="0">
              <a:lnSpc>
                <a:spcPct val="125000"/>
              </a:lnSpc>
              <a:buNone/>
            </a:pPr>
            <a:r>
              <a:rPr lang="en-US" sz="1350" b="1" dirty="0">
                <a:solidFill>
                  <a:srgbClr val="F5F1E6"/>
                </a:solidFill>
                <a:latin typeface="Calibri" pitchFamily="34" charset="0"/>
                <a:ea typeface="Calibri" pitchFamily="34" charset="-122"/>
                <a:cs typeface="Calibri" pitchFamily="34" charset="-120"/>
              </a:rPr>
              <a:t>attrait touristique</a:t>
            </a:r>
            <a:pPr indent="0" marL="0">
              <a:lnSpc>
                <a:spcPct val="125000"/>
              </a:lnSpc>
              <a:buNone/>
            </a:pPr>
            <a:r>
              <a:rPr lang="en-US" sz="1350" dirty="0">
                <a:solidFill>
                  <a:srgbClr val="F5F1E6"/>
                </a:solidFill>
                <a:latin typeface="Calibri" pitchFamily="34" charset="0"/>
                <a:ea typeface="Calibri" pitchFamily="34" charset="-122"/>
                <a:cs typeface="Calibri" pitchFamily="34" charset="-120"/>
              </a:rPr>
              <a:t> varie énormément d'une espèce à l'autre : 2 500 pts pour un Mosasaure, ~20 pour un Struthiomimus. Les compatibilités ne sont connues qu'</a:t>
            </a:r>
            <a:pPr indent="0" marL="0">
              <a:lnSpc>
                <a:spcPct val="125000"/>
              </a:lnSpc>
              <a:buNone/>
            </a:pPr>
            <a:r>
              <a:rPr lang="en-US" sz="1350" b="1" dirty="0">
                <a:solidFill>
                  <a:srgbClr val="F5F1E6"/>
                </a:solidFill>
                <a:latin typeface="Calibri" pitchFamily="34" charset="0"/>
                <a:ea typeface="Calibri" pitchFamily="34" charset="-122"/>
                <a:cs typeface="Calibri" pitchFamily="34" charset="-120"/>
              </a:rPr>
              <a:t>après extraction du génome</a:t>
            </a:r>
            <a:pPr indent="0" marL="0">
              <a:lnSpc>
                <a:spcPct val="125000"/>
              </a:lnSpc>
              <a:buNone/>
            </a:pPr>
            <a:r>
              <a:rPr lang="en-US" sz="1350" dirty="0">
                <a:solidFill>
                  <a:srgbClr val="F5F1E6"/>
                </a:solidFill>
                <a:latin typeface="Calibri" pitchFamily="34" charset="0"/>
                <a:ea typeface="Calibri" pitchFamily="34" charset="-122"/>
                <a:cs typeface="Calibri" pitchFamily="34" charset="-120"/>
              </a:rPr>
              <a:t> — un processus long, pénalisant sur les défis chronométrés.</a:t>
            </a:r>
            <a:endParaRPr lang="en-US" sz="1350" dirty="0"/>
          </a:p>
        </p:txBody>
      </p:sp>
      <p:pic>
        <p:nvPicPr>
          <p:cNvPr id="5" name="Image 0" descr="/tmp/pptx4/genomes.png">    </p:cNvPr>
          <p:cNvPicPr>
            <a:picLocks noChangeAspect="1"/>
          </p:cNvPicPr>
          <p:nvPr/>
        </p:nvPicPr>
        <p:blipFill>
          <a:blip r:embed="rId1"/>
          <a:srcRect l="0" r="0" t="0" b="0"/>
          <a:stretch/>
        </p:blipFill>
        <p:spPr>
          <a:xfrm>
            <a:off x="548640" y="2743200"/>
            <a:ext cx="10424160" cy="3246120"/>
          </a:xfrm>
          <a:prstGeom prst="rect">
            <a:avLst/>
          </a:prstGeom>
        </p:spPr>
      </p:pic>
      <p:sp>
        <p:nvSpPr>
          <p:cNvPr id="6" name="Text 3"/>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C7D0CA"/>
                </a:solidFill>
                <a:latin typeface="Calibri" pitchFamily="34" charset="0"/>
                <a:ea typeface="Calibri" pitchFamily="34" charset="-122"/>
                <a:cs typeface="Calibri" pitchFamily="34" charset="-120"/>
              </a:rPr>
              <a:t>3 / 14</a:t>
            </a:r>
            <a:endParaRPr lang="en-US" sz="1000" dirty="0"/>
          </a:p>
        </p:txBody>
      </p:sp>
      <p:sp>
        <p:nvSpPr>
          <p:cNvPr id="7"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96"/>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1. PRÉSENTATION DU PROJET — LA SOLUTION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JWE : un simulateur de compatibilité</a:t>
            </a:r>
            <a:endParaRPr lang="en-US" sz="2800" dirty="0"/>
          </a:p>
        </p:txBody>
      </p:sp>
      <p:sp>
        <p:nvSpPr>
          <p:cNvPr id="4" name="Text 2"/>
          <p:cNvSpPr txBox="1"/>
          <p:nvPr/>
        </p:nvSpPr>
        <p:spPr>
          <a:xfrm>
            <a:off x="548640" y="1600200"/>
            <a:ext cx="10515600" cy="822960"/>
          </a:xfrm>
          <a:prstGeom prst="rect">
            <a:avLst/>
          </a:prstGeom>
          <a:noFill/>
          <a:ln/>
        </p:spPr>
        <p:txBody>
          <a:bodyPr wrap="square" lIns="0" tIns="0" rIns="0" bIns="0" rtlCol="0" anchor="ctr"/>
          <a:lstStyle/>
          <a:p>
            <a:pPr indent="0" marL="0">
              <a:lnSpc>
                <a:spcPct val="125000"/>
              </a:lnSpc>
              <a:buNone/>
            </a:pPr>
            <a:r>
              <a:rPr lang="en-US" sz="1400" dirty="0">
                <a:solidFill>
                  <a:srgbClr val="24332B"/>
                </a:solidFill>
                <a:latin typeface="Calibri" pitchFamily="34" charset="0"/>
                <a:ea typeface="Calibri" pitchFamily="34" charset="-122"/>
                <a:cs typeface="Calibri" pitchFamily="34" charset="-120"/>
              </a:rPr>
              <a:t>Application Django développée en autoformation, qui calcule instantanément la compatibilité entre dinosaures sélectionnés — sans recherche manuelle ni perte de temps en jeu.</a:t>
            </a:r>
            <a:endParaRPr lang="en-US" sz="1400" dirty="0"/>
          </a:p>
        </p:txBody>
      </p:sp>
      <p:sp>
        <p:nvSpPr>
          <p:cNvPr id="5" name="Shape 3"/>
          <p:cNvSpPr/>
          <p:nvPr/>
        </p:nvSpPr>
        <p:spPr>
          <a:xfrm>
            <a:off x="548640" y="2606040"/>
            <a:ext cx="3429000" cy="3200400"/>
          </a:xfrm>
          <a:prstGeom prst="roundRect">
            <a:avLst>
              <a:gd name="adj" fmla="val 2857"/>
            </a:avLst>
          </a:prstGeom>
          <a:solidFill>
            <a:srgbClr val="EDEFE9"/>
          </a:solidFill>
          <a:ln/>
        </p:spPr>
      </p:sp>
      <p:sp>
        <p:nvSpPr>
          <p:cNvPr id="6" name="Shape 4"/>
          <p:cNvSpPr/>
          <p:nvPr/>
        </p:nvSpPr>
        <p:spPr>
          <a:xfrm>
            <a:off x="868680" y="2926080"/>
            <a:ext cx="502920" cy="502920"/>
          </a:xfrm>
          <a:prstGeom prst="ellipse">
            <a:avLst/>
          </a:prstGeom>
          <a:solidFill>
            <a:srgbClr val="C9A227"/>
          </a:solidFill>
          <a:ln/>
        </p:spPr>
      </p:sp>
      <p:sp>
        <p:nvSpPr>
          <p:cNvPr id="7" name="Text 5"/>
          <p:cNvSpPr txBox="1"/>
          <p:nvPr/>
        </p:nvSpPr>
        <p:spPr>
          <a:xfrm>
            <a:off x="868680" y="2926080"/>
            <a:ext cx="502920" cy="502920"/>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01</a:t>
            </a:r>
            <a:endParaRPr lang="en-US" sz="1500" dirty="0"/>
          </a:p>
        </p:txBody>
      </p:sp>
      <p:sp>
        <p:nvSpPr>
          <p:cNvPr id="8" name="Text 6"/>
          <p:cNvSpPr txBox="1"/>
          <p:nvPr/>
        </p:nvSpPr>
        <p:spPr>
          <a:xfrm>
            <a:off x="868680" y="3611880"/>
            <a:ext cx="2788920" cy="640080"/>
          </a:xfrm>
          <a:prstGeom prst="rect">
            <a:avLst/>
          </a:prstGeom>
          <a:noFill/>
          <a:ln/>
        </p:spPr>
        <p:txBody>
          <a:bodyPr wrap="square" lIns="0" tIns="0" rIns="0" bIns="0" rtlCol="0" anchor="ctr"/>
          <a:lstStyle/>
          <a:p>
            <a:pPr indent="0" marL="0">
              <a:buNone/>
            </a:pPr>
            <a:r>
              <a:rPr lang="en-US" sz="1500" b="1" dirty="0">
                <a:solidFill>
                  <a:srgbClr val="1B2E23"/>
                </a:solidFill>
                <a:latin typeface="Calibri" pitchFamily="34" charset="0"/>
                <a:ea typeface="Calibri" pitchFamily="34" charset="-122"/>
                <a:cs typeface="Calibri" pitchFamily="34" charset="-120"/>
              </a:rPr>
              <a:t>Vérifier la compatibilité</a:t>
            </a:r>
            <a:endParaRPr lang="en-US" sz="1500" dirty="0"/>
          </a:p>
        </p:txBody>
      </p:sp>
      <p:sp>
        <p:nvSpPr>
          <p:cNvPr id="9" name="Text 7"/>
          <p:cNvSpPr txBox="1"/>
          <p:nvPr/>
        </p:nvSpPr>
        <p:spPr>
          <a:xfrm>
            <a:off x="868680" y="4206240"/>
            <a:ext cx="2788920" cy="1371600"/>
          </a:xfrm>
          <a:prstGeom prst="rect">
            <a:avLst/>
          </a:prstGeom>
          <a:noFill/>
          <a:ln/>
        </p:spPr>
        <p:txBody>
          <a:bodyPr wrap="square" lIns="0" tIns="0" rIns="0" bIns="0" rtlCol="0" anchor="ctr"/>
          <a:lstStyle/>
          <a:p>
            <a:pPr indent="0" marL="0">
              <a:lnSpc>
                <a:spcPct val="125000"/>
              </a:lnSpc>
              <a:buNone/>
            </a:pPr>
            <a:r>
              <a:rPr lang="en-US" sz="1200" dirty="0">
                <a:solidFill>
                  <a:srgbClr val="6E7C73"/>
                </a:solidFill>
                <a:latin typeface="Calibri" pitchFamily="34" charset="0"/>
                <a:ea typeface="Calibri" pitchFamily="34" charset="-122"/>
                <a:cs typeface="Calibri" pitchFamily="34" charset="-120"/>
              </a:rPr>
              <a:t>Le cœur du besoin : savoir si plusieurs espèces peuvent cohabiter dans un même enclos.</a:t>
            </a:r>
            <a:endParaRPr lang="en-US" sz="1200" dirty="0"/>
          </a:p>
        </p:txBody>
      </p:sp>
      <p:sp>
        <p:nvSpPr>
          <p:cNvPr id="10" name="Shape 8"/>
          <p:cNvSpPr/>
          <p:nvPr/>
        </p:nvSpPr>
        <p:spPr>
          <a:xfrm>
            <a:off x="4114800" y="2606040"/>
            <a:ext cx="3429000" cy="3200400"/>
          </a:xfrm>
          <a:prstGeom prst="roundRect">
            <a:avLst>
              <a:gd name="adj" fmla="val 2857"/>
            </a:avLst>
          </a:prstGeom>
          <a:solidFill>
            <a:srgbClr val="EDEFE9"/>
          </a:solidFill>
          <a:ln/>
        </p:spPr>
      </p:sp>
      <p:sp>
        <p:nvSpPr>
          <p:cNvPr id="11" name="Shape 9"/>
          <p:cNvSpPr/>
          <p:nvPr/>
        </p:nvSpPr>
        <p:spPr>
          <a:xfrm>
            <a:off x="4434840" y="2926080"/>
            <a:ext cx="502920" cy="502920"/>
          </a:xfrm>
          <a:prstGeom prst="ellipse">
            <a:avLst/>
          </a:prstGeom>
          <a:solidFill>
            <a:srgbClr val="C9A227"/>
          </a:solidFill>
          <a:ln/>
        </p:spPr>
      </p:sp>
      <p:sp>
        <p:nvSpPr>
          <p:cNvPr id="12" name="Text 10"/>
          <p:cNvSpPr txBox="1"/>
          <p:nvPr/>
        </p:nvSpPr>
        <p:spPr>
          <a:xfrm>
            <a:off x="4434840" y="2926080"/>
            <a:ext cx="502920" cy="502920"/>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02</a:t>
            </a:r>
            <a:endParaRPr lang="en-US" sz="1500" dirty="0"/>
          </a:p>
        </p:txBody>
      </p:sp>
      <p:sp>
        <p:nvSpPr>
          <p:cNvPr id="13" name="Text 11"/>
          <p:cNvSpPr txBox="1"/>
          <p:nvPr/>
        </p:nvSpPr>
        <p:spPr>
          <a:xfrm>
            <a:off x="4434840" y="3611880"/>
            <a:ext cx="2788920" cy="640080"/>
          </a:xfrm>
          <a:prstGeom prst="rect">
            <a:avLst/>
          </a:prstGeom>
          <a:noFill/>
          <a:ln/>
        </p:spPr>
        <p:txBody>
          <a:bodyPr wrap="square" lIns="0" tIns="0" rIns="0" bIns="0" rtlCol="0" anchor="ctr"/>
          <a:lstStyle/>
          <a:p>
            <a:pPr indent="0" marL="0">
              <a:buNone/>
            </a:pPr>
            <a:r>
              <a:rPr lang="en-US" sz="1500" b="1" dirty="0">
                <a:solidFill>
                  <a:srgbClr val="1B2E23"/>
                </a:solidFill>
                <a:latin typeface="Calibri" pitchFamily="34" charset="0"/>
                <a:ea typeface="Calibri" pitchFamily="34" charset="-122"/>
                <a:cs typeface="Calibri" pitchFamily="34" charset="-120"/>
              </a:rPr>
              <a:t>Sélection dynamique</a:t>
            </a:r>
            <a:endParaRPr lang="en-US" sz="1500" dirty="0"/>
          </a:p>
        </p:txBody>
      </p:sp>
      <p:sp>
        <p:nvSpPr>
          <p:cNvPr id="14" name="Text 12"/>
          <p:cNvSpPr txBox="1"/>
          <p:nvPr/>
        </p:nvSpPr>
        <p:spPr>
          <a:xfrm>
            <a:off x="4434840" y="4206240"/>
            <a:ext cx="2788920" cy="1371600"/>
          </a:xfrm>
          <a:prstGeom prst="rect">
            <a:avLst/>
          </a:prstGeom>
          <a:noFill/>
          <a:ln/>
        </p:spPr>
        <p:txBody>
          <a:bodyPr wrap="square" lIns="0" tIns="0" rIns="0" bIns="0" rtlCol="0" anchor="ctr"/>
          <a:lstStyle/>
          <a:p>
            <a:pPr indent="0" marL="0">
              <a:lnSpc>
                <a:spcPct val="125000"/>
              </a:lnSpc>
              <a:buNone/>
            </a:pPr>
            <a:r>
              <a:rPr lang="en-US" sz="1200" dirty="0">
                <a:solidFill>
                  <a:srgbClr val="6E7C73"/>
                </a:solidFill>
                <a:latin typeface="Calibri" pitchFamily="34" charset="0"/>
                <a:ea typeface="Calibri" pitchFamily="34" charset="-122"/>
                <a:cs typeface="Calibri" pitchFamily="34" charset="-120"/>
              </a:rPr>
              <a:t>Recherche/filtrage ; la liste des compatibles se met à jour en direct.</a:t>
            </a:r>
            <a:endParaRPr lang="en-US" sz="1200" dirty="0"/>
          </a:p>
        </p:txBody>
      </p:sp>
      <p:sp>
        <p:nvSpPr>
          <p:cNvPr id="15" name="Shape 13"/>
          <p:cNvSpPr/>
          <p:nvPr/>
        </p:nvSpPr>
        <p:spPr>
          <a:xfrm>
            <a:off x="7680960" y="2606040"/>
            <a:ext cx="3429000" cy="3200400"/>
          </a:xfrm>
          <a:prstGeom prst="roundRect">
            <a:avLst>
              <a:gd name="adj" fmla="val 2857"/>
            </a:avLst>
          </a:prstGeom>
          <a:solidFill>
            <a:srgbClr val="EDEFE9"/>
          </a:solidFill>
          <a:ln/>
        </p:spPr>
      </p:sp>
      <p:sp>
        <p:nvSpPr>
          <p:cNvPr id="16" name="Shape 14"/>
          <p:cNvSpPr/>
          <p:nvPr/>
        </p:nvSpPr>
        <p:spPr>
          <a:xfrm>
            <a:off x="8001000" y="2926080"/>
            <a:ext cx="502920" cy="502920"/>
          </a:xfrm>
          <a:prstGeom prst="ellipse">
            <a:avLst/>
          </a:prstGeom>
          <a:solidFill>
            <a:srgbClr val="C9A227"/>
          </a:solidFill>
          <a:ln/>
        </p:spPr>
      </p:sp>
      <p:sp>
        <p:nvSpPr>
          <p:cNvPr id="17" name="Text 15"/>
          <p:cNvSpPr txBox="1"/>
          <p:nvPr/>
        </p:nvSpPr>
        <p:spPr>
          <a:xfrm>
            <a:off x="8001000" y="2926080"/>
            <a:ext cx="502920" cy="502920"/>
          </a:xfrm>
          <a:prstGeom prst="rect">
            <a:avLst/>
          </a:prstGeom>
          <a:noFill/>
          <a:ln/>
        </p:spPr>
        <p:txBody>
          <a:bodyPr wrap="square" lIns="0" tIns="0" rIns="0" bIns="0" rtlCol="0" anchor="ctr"/>
          <a:lstStyle/>
          <a:p>
            <a:pPr algn="ctr" indent="0" marL="0">
              <a:buNone/>
            </a:pPr>
            <a:r>
              <a:rPr lang="en-US" sz="1500" b="1" dirty="0">
                <a:solidFill>
                  <a:srgbClr val="1B2E23"/>
                </a:solidFill>
                <a:latin typeface="Cambria" pitchFamily="34" charset="0"/>
                <a:ea typeface="Cambria" pitchFamily="34" charset="-122"/>
                <a:cs typeface="Cambria" pitchFamily="34" charset="-120"/>
              </a:rPr>
              <a:t>03</a:t>
            </a:r>
            <a:endParaRPr lang="en-US" sz="1500" dirty="0"/>
          </a:p>
        </p:txBody>
      </p:sp>
      <p:sp>
        <p:nvSpPr>
          <p:cNvPr id="18" name="Text 16"/>
          <p:cNvSpPr txBox="1"/>
          <p:nvPr/>
        </p:nvSpPr>
        <p:spPr>
          <a:xfrm>
            <a:off x="8001000" y="3611880"/>
            <a:ext cx="2788920" cy="640080"/>
          </a:xfrm>
          <a:prstGeom prst="rect">
            <a:avLst/>
          </a:prstGeom>
          <a:noFill/>
          <a:ln/>
        </p:spPr>
        <p:txBody>
          <a:bodyPr wrap="square" lIns="0" tIns="0" rIns="0" bIns="0" rtlCol="0" anchor="ctr"/>
          <a:lstStyle/>
          <a:p>
            <a:pPr indent="0" marL="0">
              <a:buNone/>
            </a:pPr>
            <a:r>
              <a:rPr lang="en-US" sz="1500" b="1" dirty="0">
                <a:solidFill>
                  <a:srgbClr val="1B2E23"/>
                </a:solidFill>
                <a:latin typeface="Calibri" pitchFamily="34" charset="0"/>
                <a:ea typeface="Calibri" pitchFamily="34" charset="-122"/>
                <a:cs typeface="Calibri" pitchFamily="34" charset="-120"/>
              </a:rPr>
              <a:t>Gestion des fiches</a:t>
            </a:r>
            <a:endParaRPr lang="en-US" sz="1500" dirty="0"/>
          </a:p>
        </p:txBody>
      </p:sp>
      <p:sp>
        <p:nvSpPr>
          <p:cNvPr id="19" name="Text 17"/>
          <p:cNvSpPr txBox="1"/>
          <p:nvPr/>
        </p:nvSpPr>
        <p:spPr>
          <a:xfrm>
            <a:off x="8001000" y="4206240"/>
            <a:ext cx="2788920" cy="1371600"/>
          </a:xfrm>
          <a:prstGeom prst="rect">
            <a:avLst/>
          </a:prstGeom>
          <a:noFill/>
          <a:ln/>
        </p:spPr>
        <p:txBody>
          <a:bodyPr wrap="square" lIns="0" tIns="0" rIns="0" bIns="0" rtlCol="0" anchor="ctr"/>
          <a:lstStyle/>
          <a:p>
            <a:pPr indent="0" marL="0">
              <a:lnSpc>
                <a:spcPct val="125000"/>
              </a:lnSpc>
              <a:buNone/>
            </a:pPr>
            <a:r>
              <a:rPr lang="en-US" sz="1200" dirty="0">
                <a:solidFill>
                  <a:srgbClr val="6E7C73"/>
                </a:solidFill>
                <a:latin typeface="Calibri" pitchFamily="34" charset="0"/>
                <a:ea typeface="Calibri" pitchFamily="34" charset="-122"/>
                <a:cs typeface="Calibri" pitchFamily="34" charset="-120"/>
              </a:rPr>
              <a:t>Ajouter/modifier/supprimer chaque espèce : aucune API publique du jeu, saisie manuelle.</a:t>
            </a:r>
            <a:endParaRPr lang="en-US" sz="1200" dirty="0"/>
          </a:p>
        </p:txBody>
      </p:sp>
      <p:sp>
        <p:nvSpPr>
          <p:cNvPr id="20" name="Text 18"/>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4 / 14</a:t>
            </a:r>
            <a:endParaRPr lang="en-US" sz="1000" dirty="0"/>
          </a:p>
        </p:txBody>
      </p:sp>
      <p:sp>
        <p:nvSpPr>
          <p:cNvPr id="21" name="Text 1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2. ANALYSE ET CONCEPTION — CHOIX TECHNOLOGIQUES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Pourquoi Django, et avec quoi ?</a:t>
            </a:r>
            <a:endParaRPr lang="en-US" sz="2800" dirty="0"/>
          </a:p>
        </p:txBody>
      </p:sp>
      <p:sp>
        <p:nvSpPr>
          <p:cNvPr id="4" name="Shape 2"/>
          <p:cNvSpPr/>
          <p:nvPr/>
        </p:nvSpPr>
        <p:spPr>
          <a:xfrm>
            <a:off x="548640" y="1783080"/>
            <a:ext cx="5120640" cy="4206240"/>
          </a:xfrm>
          <a:prstGeom prst="roundRect">
            <a:avLst>
              <a:gd name="adj" fmla="val 2609"/>
            </a:avLst>
          </a:prstGeom>
          <a:solidFill>
            <a:srgbClr val="EDEFE9"/>
          </a:solidFill>
          <a:ln/>
        </p:spPr>
      </p:sp>
      <p:sp>
        <p:nvSpPr>
          <p:cNvPr id="5" name="Text 3"/>
          <p:cNvSpPr txBox="1"/>
          <p:nvPr/>
        </p:nvSpPr>
        <p:spPr>
          <a:xfrm>
            <a:off x="914400" y="2057400"/>
            <a:ext cx="4480560" cy="411480"/>
          </a:xfrm>
          <a:prstGeom prst="rect">
            <a:avLst/>
          </a:prstGeom>
          <a:noFill/>
          <a:ln/>
        </p:spPr>
        <p:txBody>
          <a:bodyPr wrap="square" lIns="0" tIns="0" rIns="0" bIns="0" rtlCol="0" anchor="ctr"/>
          <a:lstStyle/>
          <a:p>
            <a:pPr indent="0" marL="0">
              <a:buNone/>
            </a:pPr>
            <a:r>
              <a:rPr lang="en-US" sz="1700" b="1" dirty="0">
                <a:solidFill>
                  <a:srgbClr val="1B2E23"/>
                </a:solidFill>
                <a:latin typeface="Cambria" pitchFamily="34" charset="0"/>
                <a:ea typeface="Cambria" pitchFamily="34" charset="-122"/>
                <a:cs typeface="Cambria" pitchFamily="34" charset="-120"/>
              </a:rPr>
              <a:t>Le choix de Django</a:t>
            </a:r>
            <a:endParaRPr lang="en-US" sz="1700" dirty="0"/>
          </a:p>
        </p:txBody>
      </p:sp>
      <p:sp>
        <p:nvSpPr>
          <p:cNvPr id="6" name="Text 4"/>
          <p:cNvSpPr txBox="1"/>
          <p:nvPr/>
        </p:nvSpPr>
        <p:spPr>
          <a:xfrm>
            <a:off x="914400" y="2606040"/>
            <a:ext cx="4480560" cy="310896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C'est le langage/framework que je maîtrise le mieux.</a:t>
            </a:r>
            <a:endParaRPr lang="en-US" sz="1300" dirty="0"/>
          </a:p>
          <a:p>
            <a:pPr marL="342900" indent="-342900">
              <a:lnSpc>
                <a:spcPct val="120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SQLite est géré nativement : pas de serveur de base de données externe à installer pour un projet solo.</a:t>
            </a:r>
            <a:endParaRPr lang="en-US" sz="1300" dirty="0"/>
          </a:p>
          <a:p>
            <a:pPr marL="342900" indent="-342900">
              <a:lnSpc>
                <a:spcPct val="120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Cette centralisation limite les sources de bugs liées à la configuration.</a:t>
            </a:r>
            <a:endParaRPr lang="en-US" sz="1300" dirty="0"/>
          </a:p>
        </p:txBody>
      </p:sp>
      <p:sp>
        <p:nvSpPr>
          <p:cNvPr id="7" name="Shape 5"/>
          <p:cNvSpPr/>
          <p:nvPr/>
        </p:nvSpPr>
        <p:spPr>
          <a:xfrm>
            <a:off x="5989320" y="1783080"/>
            <a:ext cx="5577840" cy="4206240"/>
          </a:xfrm>
          <a:prstGeom prst="roundRect">
            <a:avLst>
              <a:gd name="adj" fmla="val 2609"/>
            </a:avLst>
          </a:prstGeom>
          <a:solidFill>
            <a:srgbClr val="1B2E23"/>
          </a:solidFill>
          <a:ln/>
        </p:spPr>
      </p:sp>
      <p:sp>
        <p:nvSpPr>
          <p:cNvPr id="8" name="Text 6"/>
          <p:cNvSpPr txBox="1"/>
          <p:nvPr/>
        </p:nvSpPr>
        <p:spPr>
          <a:xfrm>
            <a:off x="6355080" y="2057400"/>
            <a:ext cx="4937760" cy="411480"/>
          </a:xfrm>
          <a:prstGeom prst="rect">
            <a:avLst/>
          </a:prstGeom>
          <a:noFill/>
          <a:ln/>
        </p:spPr>
        <p:txBody>
          <a:bodyPr wrap="square" lIns="0" tIns="0" rIns="0" bIns="0" rtlCol="0" anchor="ctr"/>
          <a:lstStyle/>
          <a:p>
            <a:pPr indent="0" marL="0">
              <a:buNone/>
            </a:pPr>
            <a:r>
              <a:rPr lang="en-US" sz="1700" b="1" dirty="0">
                <a:solidFill>
                  <a:srgbClr val="F5F1E6"/>
                </a:solidFill>
                <a:latin typeface="Cambria" pitchFamily="34" charset="0"/>
                <a:ea typeface="Cambria" pitchFamily="34" charset="-122"/>
                <a:cs typeface="Cambria" pitchFamily="34" charset="-120"/>
              </a:rPr>
              <a:t>Stack technique</a:t>
            </a:r>
            <a:endParaRPr lang="en-US" sz="1700" dirty="0"/>
          </a:p>
        </p:txBody>
      </p:sp>
      <p:sp>
        <p:nvSpPr>
          <p:cNvPr id="9" name="Text 7"/>
          <p:cNvSpPr txBox="1"/>
          <p:nvPr/>
        </p:nvSpPr>
        <p:spPr>
          <a:xfrm>
            <a:off x="6355080" y="2606040"/>
            <a:ext cx="4937760" cy="310896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Django 5.1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framework back-end</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SQLite (dev) / PostgreSQL (prod)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base de données</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JavaScript, fetch API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interactions AJAX</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django-select2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recherche dynamique et filtrage combiné côté client</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Cloudinary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stockage des médias</a:t>
            </a:r>
            <a:endParaRPr lang="en-US" sz="1250" dirty="0"/>
          </a:p>
          <a:p>
            <a:pPr marL="342900" indent="-342900">
              <a:lnSpc>
                <a:spcPct val="115000"/>
              </a:lnSpc>
              <a:spcAft>
                <a:spcPts val="700"/>
              </a:spcAft>
              <a:buSzPct val="100000"/>
              <a:buChar char="•"/>
            </a:pPr>
            <a:r>
              <a:rPr lang="en-US" sz="1250" b="1" dirty="0">
                <a:solidFill>
                  <a:srgbClr val="F5F1E6"/>
                </a:solidFill>
                <a:latin typeface="Calibri" pitchFamily="34" charset="0"/>
                <a:ea typeface="Calibri" pitchFamily="34" charset="-122"/>
                <a:cs typeface="Calibri" pitchFamily="34" charset="-120"/>
              </a:rPr>
              <a:t>Render, Gunicorn, WhiteNoise — </a:t>
            </a:r>
            <a:pPr indent="0" marL="0">
              <a:lnSpc>
                <a:spcPct val="115000"/>
              </a:lnSpc>
              <a:spcAft>
                <a:spcPts val="700"/>
              </a:spcAft>
              <a:buNone/>
            </a:pPr>
            <a:r>
              <a:rPr lang="en-US" sz="1250" dirty="0">
                <a:solidFill>
                  <a:srgbClr val="F5F1E6"/>
                </a:solidFill>
                <a:latin typeface="Calibri" pitchFamily="34" charset="0"/>
                <a:ea typeface="Calibri" pitchFamily="34" charset="-122"/>
                <a:cs typeface="Calibri" pitchFamily="34" charset="-120"/>
              </a:rPr>
              <a:t>déploiement</a:t>
            </a:r>
            <a:endParaRPr lang="en-US" sz="1250" dirty="0"/>
          </a:p>
        </p:txBody>
      </p:sp>
      <p:sp>
        <p:nvSpPr>
          <p:cNvPr id="10" name="Text 8"/>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5 / 14</a:t>
            </a:r>
            <a:endParaRPr lang="en-US" sz="1000" dirty="0"/>
          </a:p>
        </p:txBody>
      </p:sp>
      <p:sp>
        <p:nvSpPr>
          <p:cNvPr id="11" name="Text 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2. ANALYSE ET CONCEPTION — MAQUETTES</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Responsive, et la maquette de refonte</a:t>
            </a:r>
            <a:endParaRPr lang="en-US" sz="2800" dirty="0"/>
          </a:p>
        </p:txBody>
      </p:sp>
      <p:sp>
        <p:nvSpPr>
          <p:cNvPr id="4" name="Shape 2"/>
          <p:cNvSpPr/>
          <p:nvPr/>
        </p:nvSpPr>
        <p:spPr>
          <a:xfrm>
            <a:off x="548640" y="1691640"/>
            <a:ext cx="5120640" cy="4297680"/>
          </a:xfrm>
          <a:prstGeom prst="roundRect">
            <a:avLst>
              <a:gd name="adj" fmla="val 2128"/>
            </a:avLst>
          </a:prstGeom>
          <a:solidFill>
            <a:srgbClr val="FFFFFF"/>
          </a:solidFill>
          <a:ln w="19050">
            <a:solidFill>
              <a:srgbClr val="B8C2BB"/>
            </a:solidFill>
            <a:prstDash val="dash"/>
          </a:ln>
        </p:spPr>
      </p:sp>
      <p:sp>
        <p:nvSpPr>
          <p:cNvPr id="5" name="Text 3"/>
          <p:cNvSpPr txBox="1"/>
          <p:nvPr/>
        </p:nvSpPr>
        <p:spPr>
          <a:xfrm>
            <a:off x="822960" y="1691640"/>
            <a:ext cx="4572000" cy="4297680"/>
          </a:xfrm>
          <a:prstGeom prst="rect">
            <a:avLst/>
          </a:prstGeom>
          <a:noFill/>
          <a:ln/>
        </p:spPr>
        <p:txBody>
          <a:bodyPr wrap="square" lIns="0" tIns="0" rIns="0" bIns="0" rtlCol="0" anchor="ctr"/>
          <a:lstStyle/>
          <a:p>
            <a:pPr algn="ctr" indent="0" marL="0">
              <a:buNone/>
            </a:pPr>
            <a:r>
              <a:rPr lang="en-US" sz="1100" i="1" dirty="0">
                <a:solidFill>
                  <a:srgbClr val="6E7C73"/>
                </a:solidFill>
                <a:latin typeface="Calibri" pitchFamily="34" charset="0"/>
                <a:ea typeface="Calibri" pitchFamily="34" charset="-122"/>
                <a:cs typeface="Calibri" pitchFamily="34" charset="-120"/>
              </a:rPr>
              <a:t>[Captures à insérer : accueil + liste des dinosaures en affichage mobile]</a:t>
            </a:r>
            <a:endParaRPr lang="en-US" sz="1100" dirty="0"/>
          </a:p>
        </p:txBody>
      </p:sp>
      <p:sp>
        <p:nvSpPr>
          <p:cNvPr id="6" name="Text 4"/>
          <p:cNvSpPr txBox="1"/>
          <p:nvPr/>
        </p:nvSpPr>
        <p:spPr>
          <a:xfrm>
            <a:off x="5989320" y="1920240"/>
            <a:ext cx="5394960" cy="274320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Interface pensée uniquement desktop à l'origine — lacune identifiée en préparant ce dossier.</a:t>
            </a:r>
            <a:endParaRPr lang="en-US" sz="1300" dirty="0"/>
          </a:p>
          <a:p>
            <a:pPr marL="342900" indent="-342900">
              <a:lnSpc>
                <a:spcPct val="125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Deux points de rupture ajoutés : 900px et 600px.</a:t>
            </a:r>
            <a:endParaRPr lang="en-US" sz="1300" dirty="0"/>
          </a:p>
          <a:p>
            <a:pPr marL="342900" indent="-342900">
              <a:lnSpc>
                <a:spcPct val="125000"/>
              </a:lnSpc>
              <a:spcAft>
                <a:spcPts val="1200"/>
              </a:spcAft>
              <a:buSzPct val="100000"/>
              <a:buChar char="•"/>
            </a:pPr>
            <a:r>
              <a:rPr lang="en-US" sz="1300" dirty="0">
                <a:solidFill>
                  <a:srgbClr val="24332B"/>
                </a:solidFill>
                <a:latin typeface="Calibri" pitchFamily="34" charset="0"/>
                <a:ea typeface="Calibri" pitchFamily="34" charset="-122"/>
                <a:cs typeface="Calibri" pitchFamily="34" charset="-120"/>
              </a:rPr>
              <a:t>Maquette de refonte de l'accueil amorcée, non finalisée à ce jour.</a:t>
            </a:r>
            <a:endParaRPr lang="en-US" sz="1300" dirty="0"/>
          </a:p>
        </p:txBody>
      </p:sp>
      <p:sp>
        <p:nvSpPr>
          <p:cNvPr id="7" name="Text 5"/>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6 / 14</a:t>
            </a:r>
            <a:endParaRPr lang="en-US" sz="1000" dirty="0"/>
          </a:p>
        </p:txBody>
      </p:sp>
      <p:sp>
        <p:nvSpPr>
          <p:cNvPr id="8" name="Text 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3. DÉVELOPPEMENT — DÉMONSTRATION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Le simulateur d'enclos, en direct</a:t>
            </a:r>
            <a:endParaRPr lang="en-US" sz="2800" dirty="0"/>
          </a:p>
        </p:txBody>
      </p:sp>
      <p:sp>
        <p:nvSpPr>
          <p:cNvPr id="4" name="Text 2"/>
          <p:cNvSpPr txBox="1"/>
          <p:nvPr/>
        </p:nvSpPr>
        <p:spPr>
          <a:xfrm>
            <a:off x="548640" y="1600200"/>
            <a:ext cx="10515600" cy="548640"/>
          </a:xfrm>
          <a:prstGeom prst="rect">
            <a:avLst/>
          </a:prstGeom>
          <a:noFill/>
          <a:ln/>
        </p:spPr>
        <p:txBody>
          <a:bodyPr wrap="square" lIns="0" tIns="0" rIns="0" bIns="0" rtlCol="0" anchor="ctr"/>
          <a:lstStyle/>
          <a:p>
            <a:pPr indent="0" marL="0">
              <a:buNone/>
            </a:pPr>
            <a:r>
              <a:rPr lang="en-US" sz="1400" dirty="0">
                <a:solidFill>
                  <a:srgbClr val="24332B"/>
                </a:solidFill>
                <a:latin typeface="Calibri" pitchFamily="34" charset="0"/>
                <a:ea typeface="Calibri" pitchFamily="34" charset="-122"/>
                <a:cs typeface="Calibri" pitchFamily="34" charset="-120"/>
              </a:rPr>
              <a:t>Une sélection de dinosaures recalcule instantanément, sans rechargement de page, la liste des espèces encore compatibles.</a:t>
            </a:r>
            <a:endParaRPr lang="en-US" sz="1400" dirty="0"/>
          </a:p>
        </p:txBody>
      </p:sp>
      <p:sp>
        <p:nvSpPr>
          <p:cNvPr id="5" name="Shape 3"/>
          <p:cNvSpPr/>
          <p:nvPr/>
        </p:nvSpPr>
        <p:spPr>
          <a:xfrm>
            <a:off x="548640" y="2331720"/>
            <a:ext cx="2514600" cy="1600200"/>
          </a:xfrm>
          <a:prstGeom prst="roundRect">
            <a:avLst>
              <a:gd name="adj" fmla="val 5714"/>
            </a:avLst>
          </a:prstGeom>
          <a:solidFill>
            <a:srgbClr val="EDEFE9"/>
          </a:solidFill>
          <a:ln/>
        </p:spPr>
      </p:sp>
      <p:sp>
        <p:nvSpPr>
          <p:cNvPr id="6" name="Shape 4"/>
          <p:cNvSpPr/>
          <p:nvPr/>
        </p:nvSpPr>
        <p:spPr>
          <a:xfrm>
            <a:off x="777240" y="2560320"/>
            <a:ext cx="411480" cy="411480"/>
          </a:xfrm>
          <a:prstGeom prst="ellipse">
            <a:avLst/>
          </a:prstGeom>
          <a:solidFill>
            <a:srgbClr val="C9A227"/>
          </a:solidFill>
          <a:ln/>
        </p:spPr>
      </p:sp>
      <p:sp>
        <p:nvSpPr>
          <p:cNvPr id="7" name="Text 5"/>
          <p:cNvSpPr txBox="1"/>
          <p:nvPr/>
        </p:nvSpPr>
        <p:spPr>
          <a:xfrm>
            <a:off x="77724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73152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Clic sur une carte dinosaure</a:t>
            </a:r>
            <a:endParaRPr lang="en-US" sz="1200" dirty="0"/>
          </a:p>
        </p:txBody>
      </p:sp>
      <p:sp>
        <p:nvSpPr>
          <p:cNvPr id="9" name="Text 7"/>
          <p:cNvSpPr txBox="1"/>
          <p:nvPr/>
        </p:nvSpPr>
        <p:spPr>
          <a:xfrm>
            <a:off x="73152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ajouterDino() met à jour le tableau côté client enclosActuel.</a:t>
            </a:r>
            <a:endParaRPr lang="en-US" sz="950" dirty="0"/>
          </a:p>
        </p:txBody>
      </p:sp>
      <p:sp>
        <p:nvSpPr>
          <p:cNvPr id="10" name="Shape 8"/>
          <p:cNvSpPr/>
          <p:nvPr/>
        </p:nvSpPr>
        <p:spPr>
          <a:xfrm>
            <a:off x="3246120" y="2331720"/>
            <a:ext cx="2514600" cy="1600200"/>
          </a:xfrm>
          <a:prstGeom prst="roundRect">
            <a:avLst>
              <a:gd name="adj" fmla="val 5714"/>
            </a:avLst>
          </a:prstGeom>
          <a:solidFill>
            <a:srgbClr val="EDEFE9"/>
          </a:solidFill>
          <a:ln/>
        </p:spPr>
      </p:sp>
      <p:sp>
        <p:nvSpPr>
          <p:cNvPr id="11" name="Shape 9"/>
          <p:cNvSpPr/>
          <p:nvPr/>
        </p:nvSpPr>
        <p:spPr>
          <a:xfrm>
            <a:off x="3474720" y="2560320"/>
            <a:ext cx="411480" cy="411480"/>
          </a:xfrm>
          <a:prstGeom prst="ellipse">
            <a:avLst/>
          </a:prstGeom>
          <a:solidFill>
            <a:srgbClr val="C9A227"/>
          </a:solidFill>
          <a:ln/>
        </p:spPr>
      </p:sp>
      <p:sp>
        <p:nvSpPr>
          <p:cNvPr id="12" name="Text 10"/>
          <p:cNvSpPr txBox="1"/>
          <p:nvPr/>
        </p:nvSpPr>
        <p:spPr>
          <a:xfrm>
            <a:off x="347472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342900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Appel AJAX</a:t>
            </a:r>
            <a:endParaRPr lang="en-US" sz="1200" dirty="0"/>
          </a:p>
        </p:txBody>
      </p:sp>
      <p:sp>
        <p:nvSpPr>
          <p:cNvPr id="14" name="Text 12"/>
          <p:cNvSpPr txBox="1"/>
          <p:nvPr/>
        </p:nvSpPr>
        <p:spPr>
          <a:xfrm>
            <a:off x="342900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chargerCompatibles() interroge /api/compatibles/{ids}/ en fetch().</a:t>
            </a:r>
            <a:endParaRPr lang="en-US" sz="950" dirty="0"/>
          </a:p>
        </p:txBody>
      </p:sp>
      <p:sp>
        <p:nvSpPr>
          <p:cNvPr id="15" name="Shape 13"/>
          <p:cNvSpPr/>
          <p:nvPr/>
        </p:nvSpPr>
        <p:spPr>
          <a:xfrm>
            <a:off x="5943600" y="2331720"/>
            <a:ext cx="2514600" cy="1600200"/>
          </a:xfrm>
          <a:prstGeom prst="roundRect">
            <a:avLst>
              <a:gd name="adj" fmla="val 5714"/>
            </a:avLst>
          </a:prstGeom>
          <a:solidFill>
            <a:srgbClr val="EDEFE9"/>
          </a:solidFill>
          <a:ln/>
        </p:spPr>
      </p:sp>
      <p:sp>
        <p:nvSpPr>
          <p:cNvPr id="16" name="Shape 14"/>
          <p:cNvSpPr/>
          <p:nvPr/>
        </p:nvSpPr>
        <p:spPr>
          <a:xfrm>
            <a:off x="6172200" y="2560320"/>
            <a:ext cx="411480" cy="411480"/>
          </a:xfrm>
          <a:prstGeom prst="ellipse">
            <a:avLst/>
          </a:prstGeom>
          <a:solidFill>
            <a:srgbClr val="C9A227"/>
          </a:solidFill>
          <a:ln/>
        </p:spPr>
      </p:sp>
      <p:sp>
        <p:nvSpPr>
          <p:cNvPr id="17" name="Text 15"/>
          <p:cNvSpPr txBox="1"/>
          <p:nvPr/>
        </p:nvSpPr>
        <p:spPr>
          <a:xfrm>
            <a:off x="617220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612648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Réponse JSON serveur</a:t>
            </a:r>
            <a:endParaRPr lang="en-US" sz="1200" dirty="0"/>
          </a:p>
        </p:txBody>
      </p:sp>
      <p:sp>
        <p:nvSpPr>
          <p:cNvPr id="19" name="Text 17"/>
          <p:cNvSpPr txBox="1"/>
          <p:nvPr/>
        </p:nvSpPr>
        <p:spPr>
          <a:xfrm>
            <a:off x="612648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get_compatibles() compare chaque dinosaure via verifier_compatibilite().</a:t>
            </a:r>
            <a:endParaRPr lang="en-US" sz="950" dirty="0"/>
          </a:p>
        </p:txBody>
      </p:sp>
      <p:sp>
        <p:nvSpPr>
          <p:cNvPr id="20" name="Shape 18"/>
          <p:cNvSpPr/>
          <p:nvPr/>
        </p:nvSpPr>
        <p:spPr>
          <a:xfrm>
            <a:off x="8641080" y="2331720"/>
            <a:ext cx="2514600" cy="1600200"/>
          </a:xfrm>
          <a:prstGeom prst="roundRect">
            <a:avLst>
              <a:gd name="adj" fmla="val 5714"/>
            </a:avLst>
          </a:prstGeom>
          <a:solidFill>
            <a:srgbClr val="EDEFE9"/>
          </a:solidFill>
          <a:ln/>
        </p:spPr>
      </p:sp>
      <p:sp>
        <p:nvSpPr>
          <p:cNvPr id="21" name="Shape 19"/>
          <p:cNvSpPr/>
          <p:nvPr/>
        </p:nvSpPr>
        <p:spPr>
          <a:xfrm>
            <a:off x="8869680" y="2560320"/>
            <a:ext cx="411480" cy="411480"/>
          </a:xfrm>
          <a:prstGeom prst="ellipse">
            <a:avLst/>
          </a:prstGeom>
          <a:solidFill>
            <a:srgbClr val="C9A227"/>
          </a:solidFill>
          <a:ln/>
        </p:spPr>
      </p:sp>
      <p:sp>
        <p:nvSpPr>
          <p:cNvPr id="22" name="Text 20"/>
          <p:cNvSpPr txBox="1"/>
          <p:nvPr/>
        </p:nvSpPr>
        <p:spPr>
          <a:xfrm>
            <a:off x="8869680" y="2560320"/>
            <a:ext cx="411480" cy="411480"/>
          </a:xfrm>
          <a:prstGeom prst="rect">
            <a:avLst/>
          </a:prstGeom>
          <a:noFill/>
          <a:ln/>
        </p:spPr>
        <p:txBody>
          <a:bodyPr wrap="square" lIns="0" tIns="0" rIns="0" bIns="0" rtlCol="0" anchor="ctr"/>
          <a:lstStyle/>
          <a:p>
            <a:pPr algn="ctr" indent="0" marL="0">
              <a:buNone/>
            </a:pPr>
            <a:r>
              <a:rPr lang="en-US" sz="1300" b="1" dirty="0">
                <a:solidFill>
                  <a:srgbClr val="1B2E23"/>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8823960" y="3063240"/>
            <a:ext cx="2148840" cy="457200"/>
          </a:xfrm>
          <a:prstGeom prst="rect">
            <a:avLst/>
          </a:prstGeom>
          <a:noFill/>
          <a:ln/>
        </p:spPr>
        <p:txBody>
          <a:bodyPr wrap="square" lIns="0" tIns="0" rIns="0" bIns="0" rtlCol="0" anchor="ctr"/>
          <a:lstStyle/>
          <a:p>
            <a:pPr indent="0" marL="0">
              <a:buNone/>
            </a:pPr>
            <a:r>
              <a:rPr lang="en-US" sz="1200" b="1" dirty="0">
                <a:solidFill>
                  <a:srgbClr val="1B2E23"/>
                </a:solidFill>
                <a:latin typeface="Calibri" pitchFamily="34" charset="0"/>
                <a:ea typeface="Calibri" pitchFamily="34" charset="-122"/>
                <a:cs typeface="Calibri" pitchFamily="34" charset="-120"/>
              </a:rPr>
              <a:t>Mise à jour du DOM</a:t>
            </a:r>
            <a:endParaRPr lang="en-US" sz="1200" dirty="0"/>
          </a:p>
        </p:txBody>
      </p:sp>
      <p:sp>
        <p:nvSpPr>
          <p:cNvPr id="24" name="Text 22"/>
          <p:cNvSpPr txBox="1"/>
          <p:nvPr/>
        </p:nvSpPr>
        <p:spPr>
          <a:xfrm>
            <a:off x="8823960" y="3493008"/>
            <a:ext cx="2148840" cy="411480"/>
          </a:xfrm>
          <a:prstGeom prst="rect">
            <a:avLst/>
          </a:prstGeom>
          <a:noFill/>
          <a:ln/>
        </p:spPr>
        <p:txBody>
          <a:bodyPr wrap="square" lIns="0" tIns="0" rIns="0" bIns="0" rtlCol="0" anchor="ctr"/>
          <a:lstStyle/>
          <a:p>
            <a:pPr indent="0" marL="0">
              <a:lnSpc>
                <a:spcPct val="110000"/>
              </a:lnSpc>
              <a:buNone/>
            </a:pPr>
            <a:r>
              <a:rPr lang="en-US" sz="950" dirty="0">
                <a:solidFill>
                  <a:srgbClr val="6E7C73"/>
                </a:solidFill>
                <a:latin typeface="Calibri" pitchFamily="34" charset="0"/>
                <a:ea typeface="Calibri" pitchFamily="34" charset="-122"/>
                <a:cs typeface="Calibri" pitchFamily="34" charset="-120"/>
              </a:rPr>
              <a:t>afficherCompatibles() masque/affiche les cartes avec le motif de compatibilité.</a:t>
            </a:r>
            <a:endParaRPr lang="en-US" sz="950" dirty="0"/>
          </a:p>
        </p:txBody>
      </p:sp>
      <p:pic>
        <p:nvPicPr>
          <p:cNvPr id="25" name="Image 0" descr="/tmp/pptx4/simulateur_enclos.png">    </p:cNvPr>
          <p:cNvPicPr>
            <a:picLocks noChangeAspect="1"/>
          </p:cNvPicPr>
          <p:nvPr/>
        </p:nvPicPr>
        <p:blipFill>
          <a:blip r:embed="rId1"/>
          <a:stretch>
            <a:fillRect/>
          </a:stretch>
        </p:blipFill>
        <p:spPr>
          <a:xfrm>
            <a:off x="3840480" y="4160520"/>
            <a:ext cx="3931920" cy="2286000"/>
          </a:xfrm>
          <a:prstGeom prst="rect">
            <a:avLst/>
          </a:prstGeom>
        </p:spPr>
      </p:pic>
      <p:sp>
        <p:nvSpPr>
          <p:cNvPr id="26" name="Shape 23"/>
          <p:cNvSpPr/>
          <p:nvPr/>
        </p:nvSpPr>
        <p:spPr>
          <a:xfrm>
            <a:off x="3840480" y="4160520"/>
            <a:ext cx="3931920" cy="2286000"/>
          </a:xfrm>
          <a:prstGeom prst="rect">
            <a:avLst/>
          </a:prstGeom>
          <a:ln w="12700">
            <a:solidFill>
              <a:srgbClr val="B8C2BB"/>
            </a:solidFill>
            <a:prstDash val="solid"/>
          </a:ln>
        </p:spPr>
      </p:sp>
      <p:sp>
        <p:nvSpPr>
          <p:cNvPr id="27" name="Text 24"/>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7 / 14</a:t>
            </a:r>
            <a:endParaRPr lang="en-US" sz="1000" dirty="0"/>
          </a:p>
        </p:txBody>
      </p:sp>
      <p:sp>
        <p:nvSpPr>
          <p:cNvPr id="28" name="Text 25"/>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3. DÉVELOPPEMENT — EXTRAITS DE CODE</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500" b="1" dirty="0">
                <a:solidFill>
                  <a:srgbClr val="1B2E23"/>
                </a:solidFill>
                <a:latin typeface="Cambria" pitchFamily="34" charset="0"/>
                <a:ea typeface="Cambria" pitchFamily="34" charset="-122"/>
                <a:cs typeface="Cambria" pitchFamily="34" charset="-120"/>
              </a:rPr>
              <a:t>Modéliser et sécuriser l'accès aux données</a:t>
            </a:r>
            <a:endParaRPr lang="en-US" sz="2500" dirty="0"/>
          </a:p>
        </p:txBody>
      </p:sp>
      <p:sp>
        <p:nvSpPr>
          <p:cNvPr id="4" name="Shape 2"/>
          <p:cNvSpPr/>
          <p:nvPr/>
        </p:nvSpPr>
        <p:spPr>
          <a:xfrm>
            <a:off x="548640" y="1600200"/>
            <a:ext cx="5120640" cy="2103120"/>
          </a:xfrm>
          <a:prstGeom prst="roundRect">
            <a:avLst>
              <a:gd name="adj" fmla="val 3478"/>
            </a:avLst>
          </a:prstGeom>
          <a:solidFill>
            <a:srgbClr val="1B2E23"/>
          </a:solidFill>
          <a:ln/>
        </p:spPr>
      </p:sp>
      <p:sp>
        <p:nvSpPr>
          <p:cNvPr id="5" name="Text 3"/>
          <p:cNvSpPr txBox="1"/>
          <p:nvPr/>
        </p:nvSpPr>
        <p:spPr>
          <a:xfrm>
            <a:off x="822960" y="1737360"/>
            <a:ext cx="4572000" cy="1828800"/>
          </a:xfrm>
          <a:prstGeom prst="rect">
            <a:avLst/>
          </a:prstGeom>
          <a:noFill/>
          <a:ln/>
        </p:spPr>
        <p:txBody>
          <a:bodyPr wrap="square" lIns="0" tIns="0" rIns="0" bIns="0" rtlCol="0" anchor="ctr"/>
          <a:lstStyle/>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aime = models.ManyToManyField('self',</a:t>
            </a:r>
            <a:endParaRPr lang="en-US" sz="1050" dirty="0"/>
          </a:p>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  symmetrical=False, related_name='aimé_par')</a:t>
            </a:r>
            <a:endParaRPr lang="en-US" sz="1050" dirty="0"/>
          </a:p>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naime_pas = models.ManyToManyField('self',</a:t>
            </a:r>
            <a:endParaRPr lang="en-US" sz="1050" dirty="0"/>
          </a:p>
          <a:p>
            <a:pPr indent="0" marL="0">
              <a:lnSpc>
                <a:spcPct val="125000"/>
              </a:lnSpc>
              <a:buNone/>
            </a:pPr>
            <a:r>
              <a:rPr lang="en-US" sz="1050" dirty="0">
                <a:solidFill>
                  <a:srgbClr val="F5F1E6"/>
                </a:solidFill>
                <a:latin typeface="Courier New" pitchFamily="34" charset="0"/>
                <a:ea typeface="Courier New" pitchFamily="34" charset="-122"/>
                <a:cs typeface="Courier New" pitchFamily="34" charset="-120"/>
              </a:rPr>
              <a:t>  symmetrical=False, related_name='détesté_par')</a:t>
            </a:r>
            <a:endParaRPr lang="en-US" sz="1050" dirty="0"/>
          </a:p>
        </p:txBody>
      </p:sp>
      <p:sp>
        <p:nvSpPr>
          <p:cNvPr id="6" name="Shape 4"/>
          <p:cNvSpPr/>
          <p:nvPr/>
        </p:nvSpPr>
        <p:spPr>
          <a:xfrm>
            <a:off x="5943600" y="1600200"/>
            <a:ext cx="5349240" cy="2103120"/>
          </a:xfrm>
          <a:prstGeom prst="roundRect">
            <a:avLst>
              <a:gd name="adj" fmla="val 3478"/>
            </a:avLst>
          </a:prstGeom>
          <a:solidFill>
            <a:srgbClr val="1B2E23"/>
          </a:solidFill>
          <a:ln/>
        </p:spPr>
      </p:sp>
      <p:sp>
        <p:nvSpPr>
          <p:cNvPr id="7" name="Text 5"/>
          <p:cNvSpPr txBox="1"/>
          <p:nvPr/>
        </p:nvSpPr>
        <p:spPr>
          <a:xfrm>
            <a:off x="6217920" y="1737360"/>
            <a:ext cx="4800600" cy="1828800"/>
          </a:xfrm>
          <a:prstGeom prst="rect">
            <a:avLst/>
          </a:prstGeom>
          <a:noFill/>
          <a:ln/>
        </p:spPr>
        <p:txBody>
          <a:bodyPr wrap="square" lIns="0" tIns="0" rIns="0" bIns="0" rtlCol="0" anchor="ctr"/>
          <a:lstStyle/>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for dino_enclos in dinos_selectionnes:</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est_compatible, raison = verifier_compatibilite(</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dino_enclos, dino)</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if not est_compatible:</a:t>
            </a:r>
            <a:endParaRPr lang="en-US" sz="1050" dirty="0"/>
          </a:p>
          <a:p>
            <a:pPr indent="0" marL="0">
              <a:lnSpc>
                <a:spcPct val="120000"/>
              </a:lnSpc>
              <a:buNone/>
            </a:pPr>
            <a:r>
              <a:rPr lang="en-US" sz="1050" dirty="0">
                <a:solidFill>
                  <a:srgbClr val="F5F1E6"/>
                </a:solidFill>
                <a:latin typeface="Courier New" pitchFamily="34" charset="0"/>
                <a:ea typeface="Courier New" pitchFamily="34" charset="-122"/>
                <a:cs typeface="Courier New" pitchFamily="34" charset="-120"/>
              </a:rPr>
              <a:t>    raisons.append(raison); break</a:t>
            </a:r>
            <a:endParaRPr lang="en-US" sz="1050" dirty="0"/>
          </a:p>
        </p:txBody>
      </p:sp>
      <p:sp>
        <p:nvSpPr>
          <p:cNvPr id="8" name="Text 6"/>
          <p:cNvSpPr txBox="1"/>
          <p:nvPr/>
        </p:nvSpPr>
        <p:spPr>
          <a:xfrm>
            <a:off x="548640" y="3931920"/>
            <a:ext cx="10515600" cy="1920240"/>
          </a:xfrm>
          <a:prstGeom prst="rect">
            <a:avLst/>
          </a:prstGeom>
          <a:noFill/>
          <a:ln/>
        </p:spPr>
        <p:txBody>
          <a:bodyPr wrap="square" lIns="0" tIns="0" rIns="0" bIns="0" rtlCol="0" anchor="ctr"/>
          <a:lstStyle/>
          <a:p>
            <a:pPr marL="342900" indent="-342900">
              <a:lnSpc>
                <a:spcPct val="120000"/>
              </a:lnSpc>
              <a:spcAft>
                <a:spcPts val="900"/>
              </a:spcAft>
              <a:buSzPct val="100000"/>
              <a:buChar char="•"/>
            </a:pPr>
            <a:r>
              <a:rPr lang="en-US" sz="1250" b="1" dirty="0">
                <a:solidFill>
                  <a:srgbClr val="24332B"/>
                </a:solidFill>
                <a:latin typeface="Calibri" pitchFamily="34" charset="0"/>
                <a:ea typeface="Calibri" pitchFamily="34" charset="-122"/>
                <a:cs typeface="Calibri" pitchFamily="34" charset="-120"/>
              </a:rPr>
              <a:t>symmetrical=False — </a:t>
            </a:r>
            <a:pPr indent="0" marL="0">
              <a:lnSpc>
                <a:spcPct val="120000"/>
              </a:lnSpc>
              <a:spcAft>
                <a:spcPts val="900"/>
              </a:spcAft>
              <a:buNone/>
            </a:pPr>
            <a:r>
              <a:rPr lang="en-US" sz="1250" dirty="0">
                <a:solidFill>
                  <a:srgbClr val="24332B"/>
                </a:solidFill>
                <a:latin typeface="Calibri" pitchFamily="34" charset="0"/>
                <a:ea typeface="Calibri" pitchFamily="34" charset="-122"/>
                <a:cs typeface="Calibri" pitchFamily="34" charset="-120"/>
              </a:rPr>
              <a:t>évite de dupliquer la donnée en base, mais oblige verifier_compatibilite() à interroger les deux sens de la relation.</a:t>
            </a:r>
            <a:endParaRPr lang="en-US" sz="1250" dirty="0"/>
          </a:p>
          <a:p>
            <a:pPr marL="342900" indent="-342900">
              <a:lnSpc>
                <a:spcPct val="120000"/>
              </a:lnSpc>
              <a:spcAft>
                <a:spcPts val="900"/>
              </a:spcAft>
              <a:buSzPct val="100000"/>
              <a:buChar char="•"/>
            </a:pPr>
            <a:r>
              <a:rPr lang="en-US" sz="1250" b="1" dirty="0">
                <a:solidFill>
                  <a:srgbClr val="24332B"/>
                </a:solidFill>
                <a:latin typeface="Calibri" pitchFamily="34" charset="0"/>
                <a:ea typeface="Calibri" pitchFamily="34" charset="-122"/>
                <a:cs typeface="Calibri" pitchFamily="34" charset="-120"/>
              </a:rPr>
              <a:t>get_compatibles() — </a:t>
            </a:r>
            <a:pPr indent="0" marL="0">
              <a:lnSpc>
                <a:spcPct val="120000"/>
              </a:lnSpc>
              <a:spcAft>
                <a:spcPts val="900"/>
              </a:spcAft>
              <a:buNone/>
            </a:pPr>
            <a:r>
              <a:rPr lang="en-US" sz="1250" dirty="0">
                <a:solidFill>
                  <a:srgbClr val="24332B"/>
                </a:solidFill>
                <a:latin typeface="Calibri" pitchFamily="34" charset="0"/>
                <a:ea typeface="Calibri" pitchFamily="34" charset="-122"/>
                <a:cs typeface="Calibri" pitchFamily="34" charset="-120"/>
              </a:rPr>
              <a:t>expose une API JSON consommée en AJAX, avec un break dès qu'une incompatibilité est trouvée.</a:t>
            </a:r>
            <a:endParaRPr lang="en-US" sz="1250" dirty="0"/>
          </a:p>
          <a:p>
            <a:pPr marL="342900" indent="-342900">
              <a:lnSpc>
                <a:spcPct val="120000"/>
              </a:lnSpc>
              <a:spcAft>
                <a:spcPts val="900"/>
              </a:spcAft>
              <a:buSzPct val="100000"/>
              <a:buChar char="•"/>
            </a:pPr>
            <a:r>
              <a:rPr lang="en-US" sz="1250" b="1" dirty="0">
                <a:solidFill>
                  <a:srgbClr val="24332B"/>
                </a:solidFill>
                <a:latin typeface="Calibri" pitchFamily="34" charset="0"/>
                <a:ea typeface="Calibri" pitchFamily="34" charset="-122"/>
                <a:cs typeface="Calibri" pitchFamily="34" charset="-120"/>
              </a:rPr>
              <a:t>Correction de sécurité — </a:t>
            </a:r>
            <a:pPr indent="0" marL="0">
              <a:lnSpc>
                <a:spcPct val="120000"/>
              </a:lnSpc>
              <a:spcAft>
                <a:spcPts val="900"/>
              </a:spcAft>
              <a:buNone/>
            </a:pPr>
            <a:r>
              <a:rPr lang="en-US" sz="1250" dirty="0">
                <a:solidFill>
                  <a:srgbClr val="24332B"/>
                </a:solidFill>
                <a:latin typeface="Calibri" pitchFamily="34" charset="0"/>
                <a:ea typeface="Calibri" pitchFamily="34" charset="-122"/>
                <a:cs typeface="Calibri" pitchFamily="34" charset="-120"/>
              </a:rPr>
              <a:t>apportée en préparant ce dossier : le bloc except renvoyait initialement str(e) au client, remplacé par un message générique, l'erreur réelle restant journalisée côté serveur.</a:t>
            </a:r>
            <a:endParaRPr lang="en-US" sz="1250" dirty="0"/>
          </a:p>
        </p:txBody>
      </p:sp>
      <p:sp>
        <p:nvSpPr>
          <p:cNvPr id="9" name="Text 7"/>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8 / 14</a:t>
            </a:r>
            <a:endParaRPr lang="en-US" sz="1000" dirty="0"/>
          </a:p>
        </p:txBody>
      </p:sp>
      <p:sp>
        <p:nvSpPr>
          <p:cNvPr id="10" name="Text 8"/>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3. DÉVELOPPEMENT — SÉCURITÉ &amp; DÉPLOIEMENT</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700" b="1" dirty="0">
                <a:solidFill>
                  <a:srgbClr val="F5F1E6"/>
                </a:solidFill>
                <a:latin typeface="Cambria" pitchFamily="34" charset="0"/>
                <a:ea typeface="Cambria" pitchFamily="34" charset="-122"/>
                <a:cs typeface="Cambria" pitchFamily="34" charset="-120"/>
              </a:rPr>
              <a:t>Incidents réels, diagnostiqués et corrigés</a:t>
            </a:r>
            <a:endParaRPr lang="en-US" sz="2700" dirty="0"/>
          </a:p>
        </p:txBody>
      </p:sp>
      <p:sp>
        <p:nvSpPr>
          <p:cNvPr id="4" name="Text 2"/>
          <p:cNvSpPr txBox="1"/>
          <p:nvPr/>
        </p:nvSpPr>
        <p:spPr>
          <a:xfrm>
            <a:off x="548640" y="1691640"/>
            <a:ext cx="5029200" cy="365760"/>
          </a:xfrm>
          <a:prstGeom prst="rect">
            <a:avLst/>
          </a:prstGeom>
          <a:noFill/>
          <a:ln/>
        </p:spPr>
        <p:txBody>
          <a:bodyPr wrap="square" lIns="0" tIns="0" rIns="0" bIns="0" rtlCol="0" anchor="ctr"/>
          <a:lstStyle/>
          <a:p>
            <a:pPr indent="0" marL="0">
              <a:buNone/>
            </a:pPr>
            <a:r>
              <a:rPr lang="en-US" sz="1500" b="1" dirty="0">
                <a:solidFill>
                  <a:srgbClr val="C9A227"/>
                </a:solidFill>
                <a:latin typeface="Cambria" pitchFamily="34" charset="0"/>
                <a:ea typeface="Cambria" pitchFamily="34" charset="-122"/>
                <a:cs typeface="Cambria" pitchFamily="34" charset="-120"/>
              </a:rPr>
              <a:t>Veille sécurité</a:t>
            </a:r>
            <a:endParaRPr lang="en-US" sz="1500" dirty="0"/>
          </a:p>
        </p:txBody>
      </p:sp>
      <p:sp>
        <p:nvSpPr>
          <p:cNvPr id="5" name="Text 3"/>
          <p:cNvSpPr txBox="1"/>
          <p:nvPr/>
        </p:nvSpPr>
        <p:spPr>
          <a:xfrm>
            <a:off x="548640" y="2148840"/>
            <a:ext cx="5029200" cy="274320"/>
          </a:xfrm>
          <a:prstGeom prst="rect">
            <a:avLst/>
          </a:prstGeom>
          <a:noFill/>
          <a:ln/>
        </p:spPr>
        <p:txBody>
          <a:bodyPr wrap="square" lIns="0" tIns="0" rIns="0" bIns="0" rtlCol="0" anchor="ctr"/>
          <a:lstStyle/>
          <a:p>
            <a:pPr indent="0" marL="0">
              <a:buNone/>
            </a:pPr>
            <a:r>
              <a:rPr lang="en-US" sz="1150" b="1" dirty="0">
                <a:solidFill>
                  <a:srgbClr val="F5F1E6"/>
                </a:solidFill>
                <a:latin typeface="Calibri" pitchFamily="34" charset="0"/>
                <a:ea typeface="Calibri" pitchFamily="34" charset="-122"/>
                <a:cs typeface="Calibri" pitchFamily="34" charset="-120"/>
              </a:rPr>
              <a:t>•  DEBUG=True en production</a:t>
            </a:r>
            <a:endParaRPr lang="en-US" sz="1150" dirty="0"/>
          </a:p>
        </p:txBody>
      </p:sp>
      <p:sp>
        <p:nvSpPr>
          <p:cNvPr id="6" name="Text 4"/>
          <p:cNvSpPr txBox="1"/>
          <p:nvPr/>
        </p:nvSpPr>
        <p:spPr>
          <a:xfrm>
            <a:off x="731520" y="2404872"/>
            <a:ext cx="4846320" cy="502920"/>
          </a:xfrm>
          <a:prstGeom prst="rect">
            <a:avLst/>
          </a:prstGeom>
          <a:noFill/>
          <a:ln/>
        </p:spPr>
        <p:txBody>
          <a:bodyPr wrap="square" lIns="0" tIns="0" rIns="0" bIns="0" rtlCol="0" anchor="ctr"/>
          <a:lstStyle/>
          <a:p>
            <a:pPr indent="0" marL="0">
              <a:lnSpc>
                <a:spcPct val="115000"/>
              </a:lnSpc>
              <a:buNone/>
            </a:pPr>
            <a:r>
              <a:rPr lang="en-US" sz="1000" dirty="0">
                <a:solidFill>
                  <a:srgbClr val="C7D0CA"/>
                </a:solidFill>
                <a:latin typeface="Calibri" pitchFamily="34" charset="0"/>
                <a:ea typeface="Calibri" pitchFamily="34" charset="-122"/>
                <a:cs typeface="Calibri" pitchFamily="34" charset="-120"/>
              </a:rPr>
              <a:t>Exposait chemins serveur et structure du projet. Corrigé via variable d'environnement.</a:t>
            </a:r>
            <a:endParaRPr lang="en-US" sz="1000" dirty="0"/>
          </a:p>
        </p:txBody>
      </p:sp>
      <p:sp>
        <p:nvSpPr>
          <p:cNvPr id="7" name="Text 5"/>
          <p:cNvSpPr txBox="1"/>
          <p:nvPr/>
        </p:nvSpPr>
        <p:spPr>
          <a:xfrm>
            <a:off x="548640" y="2990088"/>
            <a:ext cx="5029200" cy="274320"/>
          </a:xfrm>
          <a:prstGeom prst="rect">
            <a:avLst/>
          </a:prstGeom>
          <a:noFill/>
          <a:ln/>
        </p:spPr>
        <p:txBody>
          <a:bodyPr wrap="square" lIns="0" tIns="0" rIns="0" bIns="0" rtlCol="0" anchor="ctr"/>
          <a:lstStyle/>
          <a:p>
            <a:pPr indent="0" marL="0">
              <a:buNone/>
            </a:pPr>
            <a:r>
              <a:rPr lang="en-US" sz="1150" b="1" dirty="0">
                <a:solidFill>
                  <a:srgbClr val="F5F1E6"/>
                </a:solidFill>
                <a:latin typeface="Calibri" pitchFamily="34" charset="0"/>
                <a:ea typeface="Calibri" pitchFamily="34" charset="-122"/>
                <a:cs typeface="Calibri" pitchFamily="34" charset="-120"/>
              </a:rPr>
              <a:t>•  Fuite via str(e)</a:t>
            </a:r>
            <a:endParaRPr lang="en-US" sz="1150" dirty="0"/>
          </a:p>
        </p:txBody>
      </p:sp>
      <p:sp>
        <p:nvSpPr>
          <p:cNvPr id="8" name="Text 6"/>
          <p:cNvSpPr txBox="1"/>
          <p:nvPr/>
        </p:nvSpPr>
        <p:spPr>
          <a:xfrm>
            <a:off x="731520" y="3246120"/>
            <a:ext cx="4846320" cy="502920"/>
          </a:xfrm>
          <a:prstGeom prst="rect">
            <a:avLst/>
          </a:prstGeom>
          <a:noFill/>
          <a:ln/>
        </p:spPr>
        <p:txBody>
          <a:bodyPr wrap="square" lIns="0" tIns="0" rIns="0" bIns="0" rtlCol="0" anchor="ctr"/>
          <a:lstStyle/>
          <a:p>
            <a:pPr indent="0" marL="0">
              <a:lnSpc>
                <a:spcPct val="115000"/>
              </a:lnSpc>
              <a:buNone/>
            </a:pPr>
            <a:r>
              <a:rPr lang="en-US" sz="1000" dirty="0">
                <a:solidFill>
                  <a:srgbClr val="C7D0CA"/>
                </a:solidFill>
                <a:latin typeface="Calibri" pitchFamily="34" charset="0"/>
                <a:ea typeface="Calibri" pitchFamily="34" charset="-122"/>
                <a:cs typeface="Calibri" pitchFamily="34" charset="-120"/>
              </a:rPr>
              <a:t>Message d'erreur Python brut renvoyé au client. Remplacé par un message générique.</a:t>
            </a:r>
            <a:endParaRPr lang="en-US" sz="1000" dirty="0"/>
          </a:p>
        </p:txBody>
      </p:sp>
      <p:sp>
        <p:nvSpPr>
          <p:cNvPr id="9" name="Text 7"/>
          <p:cNvSpPr txBox="1"/>
          <p:nvPr/>
        </p:nvSpPr>
        <p:spPr>
          <a:xfrm>
            <a:off x="548640" y="3831336"/>
            <a:ext cx="5029200" cy="274320"/>
          </a:xfrm>
          <a:prstGeom prst="rect">
            <a:avLst/>
          </a:prstGeom>
          <a:noFill/>
          <a:ln/>
        </p:spPr>
        <p:txBody>
          <a:bodyPr wrap="square" lIns="0" tIns="0" rIns="0" bIns="0" rtlCol="0" anchor="ctr"/>
          <a:lstStyle/>
          <a:p>
            <a:pPr indent="0" marL="0">
              <a:buNone/>
            </a:pPr>
            <a:r>
              <a:rPr lang="en-US" sz="1150" b="1" dirty="0">
                <a:solidFill>
                  <a:srgbClr val="F5F1E6"/>
                </a:solidFill>
                <a:latin typeface="Calibri" pitchFamily="34" charset="0"/>
                <a:ea typeface="Calibri" pitchFamily="34" charset="-122"/>
                <a:cs typeface="Calibri" pitchFamily="34" charset="-120"/>
              </a:rPr>
              <a:t>•  SECRET_KEY exposée</a:t>
            </a:r>
            <a:endParaRPr lang="en-US" sz="1150" dirty="0"/>
          </a:p>
        </p:txBody>
      </p:sp>
      <p:sp>
        <p:nvSpPr>
          <p:cNvPr id="10" name="Text 8"/>
          <p:cNvSpPr txBox="1"/>
          <p:nvPr/>
        </p:nvSpPr>
        <p:spPr>
          <a:xfrm>
            <a:off x="731520" y="4087368"/>
            <a:ext cx="4846320" cy="502920"/>
          </a:xfrm>
          <a:prstGeom prst="rect">
            <a:avLst/>
          </a:prstGeom>
          <a:noFill/>
          <a:ln/>
        </p:spPr>
        <p:txBody>
          <a:bodyPr wrap="square" lIns="0" tIns="0" rIns="0" bIns="0" rtlCol="0" anchor="ctr"/>
          <a:lstStyle/>
          <a:p>
            <a:pPr indent="0" marL="0">
              <a:lnSpc>
                <a:spcPct val="115000"/>
              </a:lnSpc>
              <a:buNone/>
            </a:pPr>
            <a:r>
              <a:rPr lang="en-US" sz="1000" dirty="0">
                <a:solidFill>
                  <a:srgbClr val="C7D0CA"/>
                </a:solidFill>
                <a:latin typeface="Calibri" pitchFamily="34" charset="0"/>
                <a:ea typeface="Calibri" pitchFamily="34" charset="-122"/>
                <a:cs typeface="Calibri" pitchFamily="34" charset="-120"/>
              </a:rPr>
              <a:t>Clé en dur sur un repo public. Sortie en variable d'environnement.</a:t>
            </a:r>
            <a:endParaRPr lang="en-US" sz="1000" dirty="0"/>
          </a:p>
        </p:txBody>
      </p:sp>
      <p:sp>
        <p:nvSpPr>
          <p:cNvPr id="11" name="Text 9"/>
          <p:cNvSpPr txBox="1"/>
          <p:nvPr/>
        </p:nvSpPr>
        <p:spPr>
          <a:xfrm>
            <a:off x="6035040" y="1691640"/>
            <a:ext cx="5212080" cy="365760"/>
          </a:xfrm>
          <a:prstGeom prst="rect">
            <a:avLst/>
          </a:prstGeom>
          <a:noFill/>
          <a:ln/>
        </p:spPr>
        <p:txBody>
          <a:bodyPr wrap="square" lIns="0" tIns="0" rIns="0" bIns="0" rtlCol="0" anchor="ctr"/>
          <a:lstStyle/>
          <a:p>
            <a:pPr indent="0" marL="0">
              <a:buNone/>
            </a:pPr>
            <a:r>
              <a:rPr lang="en-US" sz="1500" b="1" dirty="0">
                <a:solidFill>
                  <a:srgbClr val="C9A227"/>
                </a:solidFill>
                <a:latin typeface="Cambria" pitchFamily="34" charset="0"/>
                <a:ea typeface="Cambria" pitchFamily="34" charset="-122"/>
                <a:cs typeface="Cambria" pitchFamily="34" charset="-120"/>
              </a:rPr>
              <a:t>Déploiement — 5 incidents en production</a:t>
            </a:r>
            <a:endParaRPr lang="en-US" sz="1500" dirty="0"/>
          </a:p>
        </p:txBody>
      </p:sp>
      <p:sp>
        <p:nvSpPr>
          <p:cNvPr id="12" name="Text 10"/>
          <p:cNvSpPr txBox="1"/>
          <p:nvPr/>
        </p:nvSpPr>
        <p:spPr>
          <a:xfrm>
            <a:off x="6035040" y="2148840"/>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Base PostgreSQL expirée (plan gratuit Render, ~1-2 mois) → recréée</a:t>
            </a:r>
            <a:endParaRPr lang="en-US" sz="1100" dirty="0"/>
          </a:p>
        </p:txBody>
      </p:sp>
      <p:sp>
        <p:nvSpPr>
          <p:cNvPr id="13" name="Text 11"/>
          <p:cNvSpPr txBox="1"/>
          <p:nvPr/>
        </p:nvSpPr>
        <p:spPr>
          <a:xfrm>
            <a:off x="6035040" y="2770632"/>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Dépendance manquante (python-dotenv) + fichier corrompu en UTF-16</a:t>
            </a:r>
            <a:endParaRPr lang="en-US" sz="1100" dirty="0"/>
          </a:p>
        </p:txBody>
      </p:sp>
      <p:sp>
        <p:nvSpPr>
          <p:cNvPr id="14" name="Text 12"/>
          <p:cNvSpPr txBox="1"/>
          <p:nvPr/>
        </p:nvSpPr>
        <p:spPr>
          <a:xfrm>
            <a:off x="6035040" y="3392424"/>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Timeout Gunicorn sur upload d'image lourde → étendu à 120s</a:t>
            </a:r>
            <a:endParaRPr lang="en-US" sz="1100" dirty="0"/>
          </a:p>
        </p:txBody>
      </p:sp>
      <p:sp>
        <p:nvSpPr>
          <p:cNvPr id="15" name="Text 13"/>
          <p:cNvSpPr txBox="1"/>
          <p:nvPr/>
        </p:nvSpPr>
        <p:spPr>
          <a:xfrm>
            <a:off x="6035040" y="4014216"/>
            <a:ext cx="5212080" cy="548640"/>
          </a:xfrm>
          <a:prstGeom prst="rect">
            <a:avLst/>
          </a:prstGeom>
          <a:noFill/>
          <a:ln/>
        </p:spPr>
        <p:txBody>
          <a:bodyPr wrap="square" lIns="0" tIns="0" rIns="0" bIns="0" rtlCol="0" anchor="ctr"/>
          <a:lstStyle/>
          <a:p>
            <a:pPr indent="0" marL="0">
              <a:lnSpc>
                <a:spcPct val="120000"/>
              </a:lnSpc>
              <a:buNone/>
            </a:pPr>
            <a:r>
              <a:rPr lang="en-US" sz="1100" dirty="0">
                <a:solidFill>
                  <a:srgbClr val="F5F1E6"/>
                </a:solidFill>
                <a:latin typeface="Calibri" pitchFamily="34" charset="0"/>
                <a:ea typeface="Calibri" pitchFamily="34" charset="-122"/>
                <a:cs typeface="Calibri" pitchFamily="34" charset="-120"/>
              </a:rPr>
              <a:t>•  Variables Cloudinary mal nommées (casse) → renommées</a:t>
            </a:r>
            <a:endParaRPr lang="en-US" sz="1100" dirty="0"/>
          </a:p>
        </p:txBody>
      </p:sp>
      <p:sp>
        <p:nvSpPr>
          <p:cNvPr id="16" name="Text 14"/>
          <p:cNvSpPr txBox="1"/>
          <p:nvPr/>
        </p:nvSpPr>
        <p:spPr>
          <a:xfrm>
            <a:off x="548640" y="5074920"/>
            <a:ext cx="10424160" cy="548640"/>
          </a:xfrm>
          <a:prstGeom prst="rect">
            <a:avLst/>
          </a:prstGeom>
          <a:noFill/>
          <a:ln/>
        </p:spPr>
        <p:txBody>
          <a:bodyPr wrap="square" lIns="0" tIns="0" rIns="0" bIns="0" rtlCol="0" anchor="ctr"/>
          <a:lstStyle/>
          <a:p>
            <a:pPr indent="0" marL="0">
              <a:lnSpc>
                <a:spcPct val="120000"/>
              </a:lnSpc>
              <a:buNone/>
            </a:pPr>
            <a:r>
              <a:rPr lang="en-US" sz="1100" i="1" dirty="0">
                <a:solidFill>
                  <a:srgbClr val="C7D0CA"/>
                </a:solidFill>
                <a:latin typeface="Calibri" pitchFamily="34" charset="0"/>
                <a:ea typeface="Calibri" pitchFamily="34" charset="-122"/>
                <a:cs typeface="Calibri" pitchFamily="34" charset="-120"/>
              </a:rPr>
              <a:t>Absence d'authentification : choix assumé, outil strictement personnel mis en ligne pour la démonstration DWWM.</a:t>
            </a:r>
            <a:endParaRPr lang="en-US" sz="1100" dirty="0"/>
          </a:p>
        </p:txBody>
      </p:sp>
      <p:sp>
        <p:nvSpPr>
          <p:cNvPr id="17" name="Text 15"/>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C7D0CA"/>
                </a:solidFill>
                <a:latin typeface="Calibri" pitchFamily="34" charset="0"/>
                <a:ea typeface="Calibri" pitchFamily="34" charset="-122"/>
                <a:cs typeface="Calibri" pitchFamily="34" charset="-120"/>
              </a:rPr>
              <a:t>9 / 14</a:t>
            </a:r>
            <a:endParaRPr lang="en-US" sz="1000" dirty="0"/>
          </a:p>
        </p:txBody>
      </p:sp>
      <p:sp>
        <p:nvSpPr>
          <p:cNvPr id="18" name="Text 1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8FA396"/>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4. TESTS ET VALIDATION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Jeu d'essai — verifier_compatibilite()</a:t>
            </a:r>
            <a:endParaRPr lang="en-US" sz="2800" dirty="0"/>
          </a:p>
        </p:txBody>
      </p:sp>
      <p:sp>
        <p:nvSpPr>
          <p:cNvPr id="4" name="Shape 2"/>
          <p:cNvSpPr/>
          <p:nvPr/>
        </p:nvSpPr>
        <p:spPr>
          <a:xfrm>
            <a:off x="548640" y="1828800"/>
            <a:ext cx="2651760" cy="2103120"/>
          </a:xfrm>
          <a:prstGeom prst="roundRect">
            <a:avLst>
              <a:gd name="adj" fmla="val 4348"/>
            </a:avLst>
          </a:prstGeom>
          <a:solidFill>
            <a:srgbClr val="1B2E23"/>
          </a:solidFill>
          <a:ln/>
        </p:spPr>
      </p:sp>
      <p:sp>
        <p:nvSpPr>
          <p:cNvPr id="5" name="Text 3"/>
          <p:cNvSpPr txBox="1"/>
          <p:nvPr/>
        </p:nvSpPr>
        <p:spPr>
          <a:xfrm>
            <a:off x="548640" y="2057400"/>
            <a:ext cx="2651760" cy="68580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14 / 14</a:t>
            </a:r>
            <a:endParaRPr lang="en-US" sz="3000" dirty="0"/>
          </a:p>
        </p:txBody>
      </p:sp>
      <p:sp>
        <p:nvSpPr>
          <p:cNvPr id="6" name="Text 4"/>
          <p:cNvSpPr txBox="1"/>
          <p:nvPr/>
        </p:nvSpPr>
        <p:spPr>
          <a:xfrm>
            <a:off x="731520" y="2743200"/>
            <a:ext cx="2286000" cy="457200"/>
          </a:xfrm>
          <a:prstGeom prst="rect">
            <a:avLst/>
          </a:prstGeom>
          <a:noFill/>
          <a:ln/>
        </p:spPr>
        <p:txBody>
          <a:bodyPr wrap="square" lIns="0" tIns="0" rIns="0" bIns="0" rtlCol="0" anchor="ctr"/>
          <a:lstStyle/>
          <a:p>
            <a:pPr algn="ctr" indent="0" marL="0">
              <a:buNone/>
            </a:pPr>
            <a:r>
              <a:rPr lang="en-US" sz="1200" dirty="0">
                <a:solidFill>
                  <a:srgbClr val="F5F1E6"/>
                </a:solidFill>
                <a:latin typeface="Calibri" pitchFamily="34" charset="0"/>
                <a:ea typeface="Calibri" pitchFamily="34" charset="-122"/>
                <a:cs typeface="Calibri" pitchFamily="34" charset="-120"/>
              </a:rPr>
              <a:t>tests unitaires réussis</a:t>
            </a:r>
            <a:endParaRPr lang="en-US" sz="1200" dirty="0"/>
          </a:p>
        </p:txBody>
      </p:sp>
      <p:sp>
        <p:nvSpPr>
          <p:cNvPr id="7" name="Text 5"/>
          <p:cNvSpPr txBox="1"/>
          <p:nvPr/>
        </p:nvSpPr>
        <p:spPr>
          <a:xfrm>
            <a:off x="685800" y="3383280"/>
            <a:ext cx="2377440" cy="457200"/>
          </a:xfrm>
          <a:prstGeom prst="rect">
            <a:avLst/>
          </a:prstGeom>
          <a:noFill/>
          <a:ln/>
        </p:spPr>
        <p:txBody>
          <a:bodyPr wrap="square" lIns="0" tIns="0" rIns="0" bIns="0" rtlCol="0" anchor="ctr"/>
          <a:lstStyle/>
          <a:p>
            <a:pPr algn="ctr" indent="0" marL="0">
              <a:buNone/>
            </a:pPr>
            <a:r>
              <a:rPr lang="en-US" sz="900" dirty="0">
                <a:solidFill>
                  <a:srgbClr val="C7D0CA"/>
                </a:solidFill>
                <a:latin typeface="Courier New" pitchFamily="34" charset="0"/>
                <a:ea typeface="Courier New" pitchFamily="34" charset="-122"/>
                <a:cs typeface="Courier New" pitchFamily="34" charset="-120"/>
              </a:rPr>
              <a:t>python manage.py test jurassic_site</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474720" y="1828800"/>
          <a:ext cx="7589520" cy="2194560"/>
        </p:xfrm>
        <a:graphic>
          <a:graphicData uri="http://schemas.openxmlformats.org/drawingml/2006/table">
            <a:tbl>
              <a:tblPr/>
              <a:tblGrid>
                <a:gridCol w="2529840"/>
                <a:gridCol w="2529840"/>
                <a:gridCol w="2529840"/>
              </a:tblGrid>
              <a:tr h="438912">
                <a:tc>
                  <a:txBody>
                    <a:bodyPr/>
                    <a:lstStyle/>
                    <a:p>
                      <a:pPr indent="0" marL="0">
                        <a:buNone/>
                      </a:pPr>
                      <a:r>
                        <a:rPr lang="en-US" sz="1100" b="1" dirty="0">
                          <a:solidFill>
                            <a:srgbClr val="F5F1E6"/>
                          </a:solidFill>
                          <a:latin typeface="Calibri" pitchFamily="34" charset="0"/>
                          <a:ea typeface="Calibri" pitchFamily="34" charset="-122"/>
                          <a:cs typeface="Calibri" pitchFamily="34" charset="-120"/>
                        </a:rPr>
                        <a:t>Cas testé</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1100" b="1" dirty="0">
                          <a:solidFill>
                            <a:srgbClr val="F5F1E6"/>
                          </a:solidFill>
                          <a:latin typeface="Calibri" pitchFamily="34" charset="0"/>
                          <a:ea typeface="Calibri" pitchFamily="34" charset="-122"/>
                          <a:cs typeface="Calibri" pitchFamily="34" charset="-120"/>
                        </a:rPr>
                        <a:t>Entrée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1100" b="1" dirty="0">
                          <a:solidFill>
                            <a:srgbClr val="F5F1E6"/>
                          </a:solidFill>
                          <a:latin typeface="Calibri" pitchFamily="34" charset="0"/>
                          <a:ea typeface="Calibri" pitchFamily="34" charset="-122"/>
                          <a:cs typeface="Calibri" pitchFamily="34" charset="-120"/>
                        </a:rPr>
                        <a:t>Résultat</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Carnivore vs Herbivore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T-Rex, Tricératops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Incompatible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Reptile marin vs terrestre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Mosasaure, Tricératops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Incompatible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Affinité positive (aime, 2 sens)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Diplodocus ↔ Gallimimus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438912">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Charognard vs herbivore (exception)</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Compsognathus ↔ Tricératops</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1100" dirty="0">
                          <a:solidFill>
                            <a:srgbClr val="24332B"/>
                          </a:solidFill>
                          <a:latin typeface="Calibri" pitchFamily="34" charset="0"/>
                          <a:ea typeface="Calibri" pitchFamily="34" charset="-122"/>
                          <a:cs typeface="Calibri" pitchFamily="34" charset="-120"/>
                        </a:rPr>
                        <a:t>Compatible — conforme</a:t>
                      </a:r>
                      <a:endParaRPr lang="en-US" sz="110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bl>
          </a:graphicData>
        </a:graphic>
      </p:graphicFrame>
      <p:sp>
        <p:nvSpPr>
          <p:cNvPr id="9" name="Text 6"/>
          <p:cNvSpPr txBox="1"/>
          <p:nvPr/>
        </p:nvSpPr>
        <p:spPr>
          <a:xfrm>
            <a:off x="3474720" y="4160520"/>
            <a:ext cx="7589520" cy="640080"/>
          </a:xfrm>
          <a:prstGeom prst="rect">
            <a:avLst/>
          </a:prstGeom>
          <a:noFill/>
          <a:ln/>
        </p:spPr>
        <p:txBody>
          <a:bodyPr wrap="square" lIns="0" tIns="0" rIns="0" bIns="0" rtlCol="0" anchor="ctr"/>
          <a:lstStyle/>
          <a:p>
            <a:pPr indent="0" marL="0">
              <a:lnSpc>
                <a:spcPct val="120000"/>
              </a:lnSpc>
              <a:buNone/>
            </a:pPr>
            <a:r>
              <a:rPr lang="en-US" sz="1100" i="1" dirty="0">
                <a:solidFill>
                  <a:srgbClr val="6E7C73"/>
                </a:solidFill>
                <a:latin typeface="Calibri" pitchFamily="34" charset="0"/>
                <a:ea typeface="Calibri" pitchFamily="34" charset="-122"/>
                <a:cs typeface="Calibri" pitchFamily="34" charset="-120"/>
              </a:rPr>
              <a:t>Extrait de la suite de 14 cas documentés dans le Dossier de Projet. Chaque test suit le pattern Arrange / Act / Assert, sur une base de données de test isolée (rollback automatique après chaque cas).</a:t>
            </a:r>
            <a:endParaRPr lang="en-US" sz="1100" dirty="0"/>
          </a:p>
        </p:txBody>
      </p:sp>
      <p:sp>
        <p:nvSpPr>
          <p:cNvPr id="10" name="Text 7"/>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10 / 14</a:t>
            </a:r>
            <a:endParaRPr lang="en-US" sz="1000" dirty="0"/>
          </a:p>
        </p:txBody>
      </p:sp>
      <p:sp>
        <p:nvSpPr>
          <p:cNvPr id="11" name="Text 8"/>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5. DOCUMENTATION</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700" b="1" dirty="0">
                <a:solidFill>
                  <a:srgbClr val="1B2E23"/>
                </a:solidFill>
                <a:latin typeface="Cambria" pitchFamily="34" charset="0"/>
                <a:ea typeface="Cambria" pitchFamily="34" charset="-122"/>
                <a:cs typeface="Cambria" pitchFamily="34" charset="-120"/>
              </a:rPr>
              <a:t>Quatre pages, une API interne documentée</a:t>
            </a:r>
            <a:endParaRPr lang="en-US" sz="2700" dirty="0"/>
          </a:p>
        </p:txBody>
      </p:sp>
      <p:sp>
        <p:nvSpPr>
          <p:cNvPr id="4" name="Text 2"/>
          <p:cNvSpPr txBox="1"/>
          <p:nvPr/>
        </p:nvSpPr>
        <p:spPr>
          <a:xfrm>
            <a:off x="548640" y="173736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Accueil</a:t>
            </a:r>
            <a:endParaRPr lang="en-US" sz="1300" dirty="0"/>
          </a:p>
        </p:txBody>
      </p:sp>
      <p:sp>
        <p:nvSpPr>
          <p:cNvPr id="5" name="Text 3"/>
          <p:cNvSpPr txBox="1"/>
          <p:nvPr/>
        </p:nvSpPr>
        <p:spPr>
          <a:xfrm>
            <a:off x="548640" y="202996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Page de présentation, point d'entrée vers les trois autres pages.</a:t>
            </a:r>
            <a:endParaRPr lang="en-US" sz="1050" dirty="0"/>
          </a:p>
        </p:txBody>
      </p:sp>
      <p:sp>
        <p:nvSpPr>
          <p:cNvPr id="6" name="Text 4"/>
          <p:cNvSpPr txBox="1"/>
          <p:nvPr/>
        </p:nvSpPr>
        <p:spPr>
          <a:xfrm>
            <a:off x="548640" y="269748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Liste des dinosaures</a:t>
            </a:r>
            <a:endParaRPr lang="en-US" sz="1300" dirty="0"/>
          </a:p>
        </p:txBody>
      </p:sp>
      <p:sp>
        <p:nvSpPr>
          <p:cNvPr id="7" name="Text 5"/>
          <p:cNvSpPr txBox="1"/>
          <p:nvPr/>
        </p:nvSpPr>
        <p:spPr>
          <a:xfrm>
            <a:off x="548640" y="299008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Fiches avec filtre par type ; modification/suppression sans quitter la liste.</a:t>
            </a:r>
            <a:endParaRPr lang="en-US" sz="1050" dirty="0"/>
          </a:p>
        </p:txBody>
      </p:sp>
      <p:sp>
        <p:nvSpPr>
          <p:cNvPr id="8" name="Text 6"/>
          <p:cNvSpPr txBox="1"/>
          <p:nvPr/>
        </p:nvSpPr>
        <p:spPr>
          <a:xfrm>
            <a:off x="548640" y="365760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Ajouter un dinosaure</a:t>
            </a:r>
            <a:endParaRPr lang="en-US" sz="1300" dirty="0"/>
          </a:p>
        </p:txBody>
      </p:sp>
      <p:sp>
        <p:nvSpPr>
          <p:cNvPr id="9" name="Text 7"/>
          <p:cNvSpPr txBox="1"/>
          <p:nvPr/>
        </p:nvSpPr>
        <p:spPr>
          <a:xfrm>
            <a:off x="548640" y="395020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Formulaire de création (nom, type, famille, régime, photo).</a:t>
            </a:r>
            <a:endParaRPr lang="en-US" sz="1050" dirty="0"/>
          </a:p>
        </p:txBody>
      </p:sp>
      <p:sp>
        <p:nvSpPr>
          <p:cNvPr id="10" name="Text 8"/>
          <p:cNvSpPr txBox="1"/>
          <p:nvPr/>
        </p:nvSpPr>
        <p:spPr>
          <a:xfrm>
            <a:off x="548640" y="4617720"/>
            <a:ext cx="4937760" cy="320040"/>
          </a:xfrm>
          <a:prstGeom prst="rect">
            <a:avLst/>
          </a:prstGeom>
          <a:noFill/>
          <a:ln/>
        </p:spPr>
        <p:txBody>
          <a:bodyPr wrap="square" lIns="0" tIns="0" rIns="0" bIns="0" rtlCol="0" anchor="ctr"/>
          <a:lstStyle/>
          <a:p>
            <a:pPr indent="0" marL="0">
              <a:buNone/>
            </a:pPr>
            <a:r>
              <a:rPr lang="en-US" sz="1300" b="1" dirty="0">
                <a:solidFill>
                  <a:srgbClr val="1B2E23"/>
                </a:solidFill>
                <a:latin typeface="Calibri" pitchFamily="34" charset="0"/>
                <a:ea typeface="Calibri" pitchFamily="34" charset="-122"/>
                <a:cs typeface="Calibri" pitchFamily="34" charset="-120"/>
              </a:rPr>
              <a:t>Simuler un enclos</a:t>
            </a:r>
            <a:endParaRPr lang="en-US" sz="1300" dirty="0"/>
          </a:p>
        </p:txBody>
      </p:sp>
      <p:sp>
        <p:nvSpPr>
          <p:cNvPr id="11" name="Text 9"/>
          <p:cNvSpPr txBox="1"/>
          <p:nvPr/>
        </p:nvSpPr>
        <p:spPr>
          <a:xfrm>
            <a:off x="548640" y="4910328"/>
            <a:ext cx="4937760" cy="594360"/>
          </a:xfrm>
          <a:prstGeom prst="rect">
            <a:avLst/>
          </a:prstGeom>
          <a:noFill/>
          <a:ln/>
        </p:spPr>
        <p:txBody>
          <a:bodyPr wrap="square" lIns="0" tIns="0" rIns="0" bIns="0" rtlCol="0" anchor="ctr"/>
          <a:lstStyle/>
          <a:p>
            <a:pPr indent="0" marL="0">
              <a:lnSpc>
                <a:spcPct val="120000"/>
              </a:lnSpc>
              <a:buNone/>
            </a:pPr>
            <a:r>
              <a:rPr lang="en-US" sz="1050" dirty="0">
                <a:solidFill>
                  <a:srgbClr val="6E7C73"/>
                </a:solidFill>
                <a:latin typeface="Calibri" pitchFamily="34" charset="0"/>
                <a:ea typeface="Calibri" pitchFamily="34" charset="-122"/>
                <a:cs typeface="Calibri" pitchFamily="34" charset="-120"/>
              </a:rPr>
              <a:t>Sélection avec recherche (django-select2) et mise à jour AJAX des compatibles.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1737360"/>
          <a:ext cx="5669280" cy="3017520"/>
        </p:xfrm>
        <a:graphic>
          <a:graphicData uri="http://schemas.openxmlformats.org/drawingml/2006/table">
            <a:tbl>
              <a:tblPr/>
              <a:tblGrid>
                <a:gridCol w="1889760"/>
                <a:gridCol w="1889760"/>
                <a:gridCol w="1889760"/>
              </a:tblGrid>
              <a:tr h="502920">
                <a:tc>
                  <a:txBody>
                    <a:bodyPr/>
                    <a:lstStyle/>
                    <a:p>
                      <a:pPr indent="0" marL="0">
                        <a:buNone/>
                      </a:pPr>
                      <a:r>
                        <a:rPr lang="en-US" sz="950" b="1" dirty="0">
                          <a:solidFill>
                            <a:srgbClr val="F5F1E6"/>
                          </a:solidFill>
                          <a:latin typeface="Calibri" pitchFamily="34" charset="0"/>
                          <a:ea typeface="Calibri" pitchFamily="34" charset="-122"/>
                          <a:cs typeface="Calibri" pitchFamily="34" charset="-120"/>
                        </a:rPr>
                        <a:t>Route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950" b="1" dirty="0">
                          <a:solidFill>
                            <a:srgbClr val="F5F1E6"/>
                          </a:solidFill>
                          <a:latin typeface="Calibri" pitchFamily="34" charset="0"/>
                          <a:ea typeface="Calibri" pitchFamily="34" charset="-122"/>
                          <a:cs typeface="Calibri" pitchFamily="34" charset="-120"/>
                        </a:rPr>
                        <a:t>Vue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c>
                  <a:txBody>
                    <a:bodyPr/>
                    <a:lstStyle/>
                    <a:p>
                      <a:pPr indent="0" marL="0">
                        <a:buNone/>
                      </a:pPr>
                      <a:r>
                        <a:rPr lang="en-US" sz="950" b="1" dirty="0">
                          <a:solidFill>
                            <a:srgbClr val="F5F1E6"/>
                          </a:solidFill>
                          <a:latin typeface="Calibri" pitchFamily="34" charset="0"/>
                          <a:ea typeface="Calibri" pitchFamily="34" charset="-122"/>
                          <a:cs typeface="Calibri" pitchFamily="34" charset="-120"/>
                        </a:rPr>
                        <a:t>Rôle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solidFill>
                      <a:srgbClr val="1B2E23"/>
                    </a:solidFill>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home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Accueil</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/liste/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liste_dinos</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Liste, filtre par type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/ajouter/</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ajouter_dino</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Créer une fiche</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/modifier/&lt;id&gt;/</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modifier_dino</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Modifier / affinités</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r h="502920">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/api/compatibles/&lt;ids&gt;/</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get_compatibles</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c>
                  <a:txBody>
                    <a:bodyPr/>
                    <a:lstStyle/>
                    <a:p>
                      <a:pPr indent="0" marL="0">
                        <a:buNone/>
                      </a:pPr>
                      <a:r>
                        <a:rPr lang="en-US" sz="950" dirty="0">
                          <a:solidFill>
                            <a:srgbClr val="24332B"/>
                          </a:solidFill>
                          <a:latin typeface="Calibri" pitchFamily="34" charset="0"/>
                          <a:ea typeface="Calibri" pitchFamily="34" charset="-122"/>
                          <a:cs typeface="Calibri" pitchFamily="34" charset="-120"/>
                        </a:rPr>
                        <a:t>API JSON (AJAX)</a:t>
                      </a:r>
                      <a:endParaRPr lang="en-US" sz="950" dirty="0">
                        <a:latin typeface="Calibri" charset="0"/>
                        <a:ea typeface="Calibri" charset="0"/>
                        <a:cs typeface="Calibri" charset="0"/>
                      </a:endParaRPr>
                    </a:p>
                  </a:txBody>
                  <a:tcPr marL="91440" marR="91440" marT="45720" marB="45720" anchor="ctr">
                    <a:lnL w="12700" cap="flat" cmpd="sng" algn="ctr">
                      <a:solidFill>
                        <a:srgbClr val="D8DED9"/>
                      </a:solidFill>
                      <a:prstDash val="solid"/>
                      <a:round/>
                      <a:headEnd type="none" w="med" len="med"/>
                      <a:tailEnd type="none" w="med" len="med"/>
                    </a:lnL>
                    <a:lnR w="12700" cap="flat" cmpd="sng" algn="ctr">
                      <a:solidFill>
                        <a:srgbClr val="D8DED9"/>
                      </a:solidFill>
                      <a:prstDash val="solid"/>
                      <a:round/>
                      <a:headEnd type="none" w="med" len="med"/>
                      <a:tailEnd type="none" w="med" len="med"/>
                    </a:lnR>
                    <a:lnT w="12700" cap="flat" cmpd="sng" algn="ctr">
                      <a:solidFill>
                        <a:srgbClr val="D8DED9"/>
                      </a:solidFill>
                      <a:prstDash val="solid"/>
                      <a:round/>
                      <a:headEnd type="none" w="med" len="med"/>
                      <a:tailEnd type="none" w="med" len="med"/>
                    </a:lnT>
                    <a:lnB w="12700" cap="flat" cmpd="sng" algn="ctr">
                      <a:solidFill>
                        <a:srgbClr val="D8DED9"/>
                      </a:solidFill>
                      <a:prstDash val="solid"/>
                      <a:round/>
                      <a:headEnd type="none" w="med" len="med"/>
                      <a:tailEnd type="none" w="med" len="med"/>
                    </a:lnB>
                  </a:tcPr>
                </a:tc>
              </a:tr>
            </a:tbl>
          </a:graphicData>
        </a:graphic>
      </p:graphicFrame>
      <p:sp>
        <p:nvSpPr>
          <p:cNvPr id="13" name="Text 10"/>
          <p:cNvSpPr txBox="1"/>
          <p:nvPr/>
        </p:nvSpPr>
        <p:spPr>
          <a:xfrm>
            <a:off x="548640" y="5623560"/>
            <a:ext cx="10424160" cy="731520"/>
          </a:xfrm>
          <a:prstGeom prst="rect">
            <a:avLst/>
          </a:prstGeom>
          <a:noFill/>
          <a:ln/>
        </p:spPr>
        <p:txBody>
          <a:bodyPr wrap="square" lIns="0" tIns="0" rIns="0" bIns="0" rtlCol="0" anchor="ctr"/>
          <a:lstStyle/>
          <a:p>
            <a:pPr indent="0" marL="0">
              <a:lnSpc>
                <a:spcPct val="120000"/>
              </a:lnSpc>
              <a:buNone/>
            </a:pPr>
            <a:r>
              <a:rPr lang="en-US" sz="1050" i="1" dirty="0">
                <a:solidFill>
                  <a:srgbClr val="6E7C73"/>
                </a:solidFill>
                <a:latin typeface="Calibri" pitchFamily="34" charset="0"/>
                <a:ea typeface="Calibri" pitchFamily="34" charset="-122"/>
                <a:cs typeface="Calibri" pitchFamily="34" charset="-120"/>
              </a:rPr>
              <a:t>Application regroupée dans une unique app Django (jurassic_site) : modèles, vues, formulaires, templates et tests. Médias sur Cloudinary, fichiers statiques servis via WhiteNoise en production.</a:t>
            </a:r>
            <a:endParaRPr lang="en-US" sz="1050" dirty="0"/>
          </a:p>
        </p:txBody>
      </p:sp>
      <p:sp>
        <p:nvSpPr>
          <p:cNvPr id="14" name="Text 11"/>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11 / 14</a:t>
            </a:r>
            <a:endParaRPr lang="en-US" sz="1000" dirty="0"/>
          </a:p>
        </p:txBody>
      </p:sp>
      <p:sp>
        <p:nvSpPr>
          <p:cNvPr id="15" name="Text 1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6. BILAN PERSONNEL</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3200" b="1" dirty="0">
                <a:solidFill>
                  <a:srgbClr val="1B2E23"/>
                </a:solidFill>
                <a:latin typeface="Cambria" pitchFamily="34" charset="0"/>
                <a:ea typeface="Cambria" pitchFamily="34" charset="-122"/>
                <a:cs typeface="Cambria" pitchFamily="34" charset="-120"/>
              </a:rPr>
              <a:t>Bilan personnel</a:t>
            </a:r>
            <a:endParaRPr lang="en-US" sz="3200" dirty="0"/>
          </a:p>
        </p:txBody>
      </p:sp>
      <p:sp>
        <p:nvSpPr>
          <p:cNvPr id="4" name="Shape 2"/>
          <p:cNvSpPr/>
          <p:nvPr/>
        </p:nvSpPr>
        <p:spPr>
          <a:xfrm>
            <a:off x="548640" y="1783080"/>
            <a:ext cx="5120640" cy="4206240"/>
          </a:xfrm>
          <a:prstGeom prst="roundRect">
            <a:avLst>
              <a:gd name="adj" fmla="val 2609"/>
            </a:avLst>
          </a:prstGeom>
          <a:solidFill>
            <a:srgbClr val="EDEFE9"/>
          </a:solidFill>
          <a:ln/>
        </p:spPr>
      </p:sp>
      <p:sp>
        <p:nvSpPr>
          <p:cNvPr id="5" name="Text 3"/>
          <p:cNvSpPr txBox="1"/>
          <p:nvPr/>
        </p:nvSpPr>
        <p:spPr>
          <a:xfrm>
            <a:off x="914400" y="2011680"/>
            <a:ext cx="4480560" cy="365760"/>
          </a:xfrm>
          <a:prstGeom prst="rect">
            <a:avLst/>
          </a:prstGeom>
          <a:noFill/>
          <a:ln/>
        </p:spPr>
        <p:txBody>
          <a:bodyPr wrap="square" lIns="0" tIns="0" rIns="0" bIns="0" rtlCol="0" anchor="ctr"/>
          <a:lstStyle/>
          <a:p>
            <a:pPr indent="0" marL="0">
              <a:buNone/>
            </a:pPr>
            <a:r>
              <a:rPr lang="en-US" sz="1600" b="1" dirty="0">
                <a:solidFill>
                  <a:srgbClr val="1B2E23"/>
                </a:solidFill>
                <a:latin typeface="Cambria" pitchFamily="34" charset="0"/>
                <a:ea typeface="Cambria" pitchFamily="34" charset="-122"/>
                <a:cs typeface="Cambria" pitchFamily="34" charset="-120"/>
              </a:rPr>
              <a:t>Points forts</a:t>
            </a:r>
            <a:endParaRPr lang="en-US" sz="1600" dirty="0"/>
          </a:p>
        </p:txBody>
      </p:sp>
      <p:sp>
        <p:nvSpPr>
          <p:cNvPr id="6" name="Text 4"/>
          <p:cNvSpPr txBox="1"/>
          <p:nvPr/>
        </p:nvSpPr>
        <p:spPr>
          <a:xfrm>
            <a:off x="914400" y="2468880"/>
            <a:ext cx="4480560" cy="210312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24332B"/>
                </a:solidFill>
                <a:latin typeface="Calibri" pitchFamily="34" charset="0"/>
                <a:ea typeface="Calibri" pitchFamily="34" charset="-122"/>
                <a:cs typeface="Calibri" pitchFamily="34" charset="-120"/>
              </a:rPr>
              <a:t>Rédiger au brouillon la logique métier avant de coder.</a:t>
            </a:r>
            <a:endParaRPr lang="en-US" sz="1250" dirty="0"/>
          </a:p>
          <a:p>
            <a:pPr marL="342900" indent="-342900">
              <a:lnSpc>
                <a:spcPct val="125000"/>
              </a:lnSpc>
              <a:spcAft>
                <a:spcPts val="1000"/>
              </a:spcAft>
              <a:buSzPct val="100000"/>
              <a:buChar char="•"/>
            </a:pPr>
            <a:r>
              <a:rPr lang="en-US" sz="1250" dirty="0">
                <a:solidFill>
                  <a:srgbClr val="24332B"/>
                </a:solidFill>
                <a:latin typeface="Calibri" pitchFamily="34" charset="0"/>
                <a:ea typeface="Calibri" pitchFamily="34" charset="-122"/>
                <a:cs typeface="Calibri" pitchFamily="34" charset="-120"/>
              </a:rPr>
              <a:t>Remettre en question a posteriori mes choix techniques (ex. symmetrical=False).</a:t>
            </a:r>
            <a:endParaRPr lang="en-US" sz="1250" dirty="0"/>
          </a:p>
          <a:p>
            <a:pPr marL="342900" indent="-342900">
              <a:lnSpc>
                <a:spcPct val="125000"/>
              </a:lnSpc>
              <a:spcAft>
                <a:spcPts val="1000"/>
              </a:spcAft>
              <a:buSzPct val="100000"/>
              <a:buChar char="•"/>
            </a:pPr>
            <a:r>
              <a:rPr lang="en-US" sz="1250" dirty="0">
                <a:solidFill>
                  <a:srgbClr val="24332B"/>
                </a:solidFill>
                <a:latin typeface="Calibri" pitchFamily="34" charset="0"/>
                <a:ea typeface="Calibri" pitchFamily="34" charset="-122"/>
                <a:cs typeface="Calibri" pitchFamily="34" charset="-120"/>
              </a:rPr>
              <a:t>Développer une réelle compétence de rédaction de tests unitaires.</a:t>
            </a:r>
            <a:endParaRPr lang="en-US" sz="1250" dirty="0"/>
          </a:p>
        </p:txBody>
      </p:sp>
      <p:sp>
        <p:nvSpPr>
          <p:cNvPr id="7" name="Shape 5"/>
          <p:cNvSpPr/>
          <p:nvPr/>
        </p:nvSpPr>
        <p:spPr>
          <a:xfrm>
            <a:off x="5989320" y="1783080"/>
            <a:ext cx="5577840" cy="4206240"/>
          </a:xfrm>
          <a:prstGeom prst="roundRect">
            <a:avLst>
              <a:gd name="adj" fmla="val 2609"/>
            </a:avLst>
          </a:prstGeom>
          <a:solidFill>
            <a:srgbClr val="1B2E23"/>
          </a:solidFill>
          <a:ln/>
        </p:spPr>
      </p:sp>
      <p:sp>
        <p:nvSpPr>
          <p:cNvPr id="8" name="Text 6"/>
          <p:cNvSpPr txBox="1"/>
          <p:nvPr/>
        </p:nvSpPr>
        <p:spPr>
          <a:xfrm>
            <a:off x="6355080" y="2011680"/>
            <a:ext cx="4937760" cy="365760"/>
          </a:xfrm>
          <a:prstGeom prst="rect">
            <a:avLst/>
          </a:prstGeom>
          <a:noFill/>
          <a:ln/>
        </p:spPr>
        <p:txBody>
          <a:bodyPr wrap="square" lIns="0" tIns="0" rIns="0" bIns="0" rtlCol="0" anchor="ctr"/>
          <a:lstStyle/>
          <a:p>
            <a:pPr indent="0" marL="0">
              <a:buNone/>
            </a:pPr>
            <a:r>
              <a:rPr lang="en-US" sz="1600" b="1" dirty="0">
                <a:solidFill>
                  <a:srgbClr val="F5F1E6"/>
                </a:solidFill>
                <a:latin typeface="Cambria" pitchFamily="34" charset="0"/>
                <a:ea typeface="Cambria" pitchFamily="34" charset="-122"/>
                <a:cs typeface="Cambria" pitchFamily="34" charset="-120"/>
              </a:rPr>
              <a:t>Axe de progression prioritaire</a:t>
            </a:r>
            <a:endParaRPr lang="en-US" sz="1600" dirty="0"/>
          </a:p>
        </p:txBody>
      </p:sp>
      <p:sp>
        <p:nvSpPr>
          <p:cNvPr id="9" name="Text 7"/>
          <p:cNvSpPr txBox="1"/>
          <p:nvPr/>
        </p:nvSpPr>
        <p:spPr>
          <a:xfrm>
            <a:off x="6355080" y="2468880"/>
            <a:ext cx="4937760" cy="237744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250" dirty="0">
                <a:solidFill>
                  <a:srgbClr val="F5F1E6"/>
                </a:solidFill>
                <a:latin typeface="Calibri" pitchFamily="34" charset="0"/>
                <a:ea typeface="Calibri" pitchFamily="34" charset="-122"/>
                <a:cs typeface="Calibri" pitchFamily="34" charset="-120"/>
              </a:rPr>
              <a:t>Je structure bien la logique voulue, mais manque parfois du vocabulaire Python précis pour la traduire directement en code, sans passer par plusieurs tâtonnements.</a:t>
            </a:r>
            <a:endParaRPr lang="en-US" sz="1250" dirty="0"/>
          </a:p>
          <a:p>
            <a:pPr marL="342900" indent="-342900">
              <a:lnSpc>
                <a:spcPct val="125000"/>
              </a:lnSpc>
              <a:spcAft>
                <a:spcPts val="1000"/>
              </a:spcAft>
              <a:buSzPct val="100000"/>
              <a:buChar char="•"/>
            </a:pPr>
            <a:r>
              <a:rPr lang="en-US" sz="1250" dirty="0">
                <a:solidFill>
                  <a:srgbClr val="F5F1E6"/>
                </a:solidFill>
                <a:latin typeface="Calibri" pitchFamily="34" charset="0"/>
                <a:ea typeface="Calibri" pitchFamily="34" charset="-122"/>
                <a:cs typeface="Calibri" pitchFamily="34" charset="-120"/>
              </a:rPr>
              <a:t>Objectif : renforcer ma maîtrise du langage pour proposer moi-même des écritures alternatives.</a:t>
            </a:r>
            <a:endParaRPr lang="en-US" sz="1250" dirty="0"/>
          </a:p>
        </p:txBody>
      </p:sp>
      <p:sp>
        <p:nvSpPr>
          <p:cNvPr id="10" name="Text 8"/>
          <p:cNvSpPr txBox="1"/>
          <p:nvPr/>
        </p:nvSpPr>
        <p:spPr>
          <a:xfrm>
            <a:off x="548640" y="6080760"/>
            <a:ext cx="10515600" cy="457200"/>
          </a:xfrm>
          <a:prstGeom prst="rect">
            <a:avLst/>
          </a:prstGeom>
          <a:noFill/>
          <a:ln/>
        </p:spPr>
        <p:txBody>
          <a:bodyPr wrap="square" lIns="0" tIns="0" rIns="0" bIns="0" rtlCol="0" anchor="ctr"/>
          <a:lstStyle/>
          <a:p>
            <a:pPr indent="0" marL="0">
              <a:lnSpc>
                <a:spcPct val="115000"/>
              </a:lnSpc>
              <a:buNone/>
            </a:pPr>
            <a:r>
              <a:rPr lang="en-US" sz="950" i="1" dirty="0">
                <a:solidFill>
                  <a:srgbClr val="6E7C73"/>
                </a:solidFill>
                <a:latin typeface="Calibri" pitchFamily="34" charset="0"/>
                <a:ea typeface="Calibri" pitchFamily="34" charset="-122"/>
                <a:cs typeface="Calibri" pitchFamily="34" charset="-120"/>
              </a:rPr>
              <a:t>Note : la formalisation de ce dossier et de ce support de présentation a été assistée par IA — un usage d'outil courant aujourd'hui, distinct du travail technique et des décisions présentées, qui restent les miens.</a:t>
            </a:r>
            <a:endParaRPr lang="en-US" sz="950" dirty="0"/>
          </a:p>
        </p:txBody>
      </p:sp>
      <p:sp>
        <p:nvSpPr>
          <p:cNvPr id="11" name="Text 9"/>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12 / 14</a:t>
            </a:r>
            <a:endParaRPr lang="en-US" sz="1000" dirty="0"/>
          </a:p>
        </p:txBody>
      </p:sp>
      <p:sp>
        <p:nvSpPr>
          <p:cNvPr id="12" name="Text 1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601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6. BILAN PERSONNEL — RÉFÉRENTIEL</a:t>
            </a:r>
            <a:endParaRPr lang="en-US" sz="1200" dirty="0"/>
          </a:p>
        </p:txBody>
      </p:sp>
      <p:sp>
        <p:nvSpPr>
          <p:cNvPr id="3" name="Text 1"/>
          <p:cNvSpPr txBox="1"/>
          <p:nvPr/>
        </p:nvSpPr>
        <p:spPr>
          <a:xfrm>
            <a:off x="548640" y="713232"/>
            <a:ext cx="11094415" cy="822960"/>
          </a:xfrm>
          <a:prstGeom prst="rect">
            <a:avLst/>
          </a:prstGeom>
          <a:noFill/>
          <a:ln/>
        </p:spPr>
        <p:txBody>
          <a:bodyPr wrap="square" lIns="0" tIns="0" rIns="0" bIns="0" rtlCol="0" anchor="ctr"/>
          <a:lstStyle/>
          <a:p>
            <a:pPr indent="0" marL="0">
              <a:buNone/>
            </a:pPr>
            <a:r>
              <a:rPr lang="en-US" sz="2800" b="1" dirty="0">
                <a:solidFill>
                  <a:srgbClr val="1B2E23"/>
                </a:solidFill>
                <a:latin typeface="Cambria" pitchFamily="34" charset="0"/>
                <a:ea typeface="Cambria" pitchFamily="34" charset="-122"/>
                <a:cs typeface="Cambria" pitchFamily="34" charset="-120"/>
              </a:rPr>
              <a:t>Compétences du référentiel couvertes</a:t>
            </a:r>
            <a:endParaRPr lang="en-US" sz="2800" dirty="0"/>
          </a:p>
        </p:txBody>
      </p:sp>
      <p:sp>
        <p:nvSpPr>
          <p:cNvPr id="4" name="Shape 2"/>
          <p:cNvSpPr/>
          <p:nvPr/>
        </p:nvSpPr>
        <p:spPr>
          <a:xfrm>
            <a:off x="548640" y="1783080"/>
            <a:ext cx="5120640" cy="3931920"/>
          </a:xfrm>
          <a:prstGeom prst="roundRect">
            <a:avLst>
              <a:gd name="adj" fmla="val 2791"/>
            </a:avLst>
          </a:prstGeom>
          <a:solidFill>
            <a:srgbClr val="EDEFE9"/>
          </a:solidFill>
          <a:ln/>
        </p:spPr>
      </p:sp>
      <p:sp>
        <p:nvSpPr>
          <p:cNvPr id="5" name="Text 3"/>
          <p:cNvSpPr txBox="1"/>
          <p:nvPr/>
        </p:nvSpPr>
        <p:spPr>
          <a:xfrm>
            <a:off x="914400" y="2011680"/>
            <a:ext cx="4480560" cy="411480"/>
          </a:xfrm>
          <a:prstGeom prst="rect">
            <a:avLst/>
          </a:prstGeom>
          <a:noFill/>
          <a:ln/>
        </p:spPr>
        <p:txBody>
          <a:bodyPr wrap="square" lIns="0" tIns="0" rIns="0" bIns="0" rtlCol="0" anchor="ctr"/>
          <a:lstStyle/>
          <a:p>
            <a:pPr indent="0" marL="0">
              <a:buNone/>
            </a:pPr>
            <a:r>
              <a:rPr lang="en-US" sz="1500" b="1" dirty="0">
                <a:solidFill>
                  <a:srgbClr val="1B2E23"/>
                </a:solidFill>
                <a:latin typeface="Cambria" pitchFamily="34" charset="0"/>
                <a:ea typeface="Cambria" pitchFamily="34" charset="-122"/>
                <a:cs typeface="Cambria" pitchFamily="34" charset="-120"/>
              </a:rPr>
              <a:t>CCP1 — Front-end sécurisé</a:t>
            </a:r>
            <a:endParaRPr lang="en-US" sz="1500" dirty="0"/>
          </a:p>
        </p:txBody>
      </p:sp>
      <p:sp>
        <p:nvSpPr>
          <p:cNvPr id="6" name="Text 4"/>
          <p:cNvSpPr txBox="1"/>
          <p:nvPr/>
        </p:nvSpPr>
        <p:spPr>
          <a:xfrm>
            <a:off x="914400" y="2560320"/>
            <a:ext cx="448056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b="1" dirty="0">
                <a:solidFill>
                  <a:srgbClr val="24332B"/>
                </a:solidFill>
                <a:latin typeface="Calibri" pitchFamily="34" charset="0"/>
                <a:ea typeface="Calibri" pitchFamily="34" charset="-122"/>
                <a:cs typeface="Calibri" pitchFamily="34" charset="-120"/>
              </a:rPr>
              <a:t>Maquetter une application — </a:t>
            </a:r>
            <a:pPr indent="0" marL="0">
              <a:lnSpc>
                <a:spcPct val="120000"/>
              </a:lnSpc>
              <a:spcAft>
                <a:spcPts val="1000"/>
              </a:spcAft>
              <a:buNone/>
            </a:pPr>
            <a:r>
              <a:rPr lang="en-US" sz="1200" dirty="0">
                <a:solidFill>
                  <a:srgbClr val="24332B"/>
                </a:solidFill>
                <a:latin typeface="Calibri" pitchFamily="34" charset="0"/>
                <a:ea typeface="Calibri" pitchFamily="34" charset="-122"/>
                <a:cs typeface="Calibri" pitchFamily="34" charset="-120"/>
              </a:rPr>
              <a:t>démarche amorcée sur la refonte (en cours)</a:t>
            </a:r>
            <a:endParaRPr lang="en-US" sz="1200" dirty="0"/>
          </a:p>
          <a:p>
            <a:pPr marL="342900" indent="-342900">
              <a:lnSpc>
                <a:spcPct val="120000"/>
              </a:lnSpc>
              <a:spcAft>
                <a:spcPts val="1000"/>
              </a:spcAft>
              <a:buSzPct val="100000"/>
              <a:buChar char="•"/>
            </a:pPr>
            <a:r>
              <a:rPr lang="en-US" sz="1200" b="1" dirty="0">
                <a:solidFill>
                  <a:srgbClr val="24332B"/>
                </a:solidFill>
                <a:latin typeface="Calibri" pitchFamily="34" charset="0"/>
                <a:ea typeface="Calibri" pitchFamily="34" charset="-122"/>
                <a:cs typeface="Calibri" pitchFamily="34" charset="-120"/>
              </a:rPr>
              <a:t>Réaliser une interface statique — </a:t>
            </a:r>
            <a:pPr indent="0" marL="0">
              <a:lnSpc>
                <a:spcPct val="120000"/>
              </a:lnSpc>
              <a:spcAft>
                <a:spcPts val="1000"/>
              </a:spcAft>
              <a:buNone/>
            </a:pPr>
            <a:r>
              <a:rPr lang="en-US" sz="1200" dirty="0">
                <a:solidFill>
                  <a:srgbClr val="24332B"/>
                </a:solidFill>
                <a:latin typeface="Calibri" pitchFamily="34" charset="0"/>
                <a:ea typeface="Calibri" pitchFamily="34" charset="-122"/>
                <a:cs typeface="Calibri" pitchFamily="34" charset="-120"/>
              </a:rPr>
              <a:t>templates Django, responsive</a:t>
            </a:r>
            <a:endParaRPr lang="en-US" sz="1200" dirty="0"/>
          </a:p>
          <a:p>
            <a:pPr marL="342900" indent="-342900">
              <a:lnSpc>
                <a:spcPct val="120000"/>
              </a:lnSpc>
              <a:spcAft>
                <a:spcPts val="1000"/>
              </a:spcAft>
              <a:buSzPct val="100000"/>
              <a:buChar char="•"/>
            </a:pPr>
            <a:r>
              <a:rPr lang="en-US" sz="1200" b="1" dirty="0">
                <a:solidFill>
                  <a:srgbClr val="24332B"/>
                </a:solidFill>
                <a:latin typeface="Calibri" pitchFamily="34" charset="0"/>
                <a:ea typeface="Calibri" pitchFamily="34" charset="-122"/>
                <a:cs typeface="Calibri" pitchFamily="34" charset="-120"/>
              </a:rPr>
              <a:t>Réaliser une interface dynamique — </a:t>
            </a:r>
            <a:pPr indent="0" marL="0">
              <a:lnSpc>
                <a:spcPct val="120000"/>
              </a:lnSpc>
              <a:spcAft>
                <a:spcPts val="1000"/>
              </a:spcAft>
              <a:buNone/>
            </a:pPr>
            <a:r>
              <a:rPr lang="en-US" sz="1200" dirty="0">
                <a:solidFill>
                  <a:srgbClr val="24332B"/>
                </a:solidFill>
                <a:latin typeface="Calibri" pitchFamily="34" charset="0"/>
                <a:ea typeface="Calibri" pitchFamily="34" charset="-122"/>
                <a:cs typeface="Calibri" pitchFamily="34" charset="-120"/>
              </a:rPr>
              <a:t>AJAX / fetch, django-select2</a:t>
            </a:r>
            <a:endParaRPr lang="en-US" sz="1200" dirty="0"/>
          </a:p>
        </p:txBody>
      </p:sp>
      <p:sp>
        <p:nvSpPr>
          <p:cNvPr id="7" name="Shape 5"/>
          <p:cNvSpPr/>
          <p:nvPr/>
        </p:nvSpPr>
        <p:spPr>
          <a:xfrm>
            <a:off x="5989320" y="1783080"/>
            <a:ext cx="5577840" cy="3931920"/>
          </a:xfrm>
          <a:prstGeom prst="roundRect">
            <a:avLst>
              <a:gd name="adj" fmla="val 2791"/>
            </a:avLst>
          </a:prstGeom>
          <a:solidFill>
            <a:srgbClr val="1B2E23"/>
          </a:solidFill>
          <a:ln/>
        </p:spPr>
      </p:sp>
      <p:sp>
        <p:nvSpPr>
          <p:cNvPr id="8" name="Text 6"/>
          <p:cNvSpPr txBox="1"/>
          <p:nvPr/>
        </p:nvSpPr>
        <p:spPr>
          <a:xfrm>
            <a:off x="6355080" y="2011680"/>
            <a:ext cx="4937760" cy="411480"/>
          </a:xfrm>
          <a:prstGeom prst="rect">
            <a:avLst/>
          </a:prstGeom>
          <a:noFill/>
          <a:ln/>
        </p:spPr>
        <p:txBody>
          <a:bodyPr wrap="square" lIns="0" tIns="0" rIns="0" bIns="0" rtlCol="0" anchor="ctr"/>
          <a:lstStyle/>
          <a:p>
            <a:pPr indent="0" marL="0">
              <a:buNone/>
            </a:pPr>
            <a:r>
              <a:rPr lang="en-US" sz="1500" b="1" dirty="0">
                <a:solidFill>
                  <a:srgbClr val="F5F1E6"/>
                </a:solidFill>
                <a:latin typeface="Cambria" pitchFamily="34" charset="0"/>
                <a:ea typeface="Cambria" pitchFamily="34" charset="-122"/>
                <a:cs typeface="Cambria" pitchFamily="34" charset="-120"/>
              </a:rPr>
              <a:t>CCP2 — Back-end sécurisé</a:t>
            </a:r>
            <a:endParaRPr lang="en-US" sz="1500" dirty="0"/>
          </a:p>
        </p:txBody>
      </p:sp>
      <p:sp>
        <p:nvSpPr>
          <p:cNvPr id="9" name="Text 7"/>
          <p:cNvSpPr txBox="1"/>
          <p:nvPr/>
        </p:nvSpPr>
        <p:spPr>
          <a:xfrm>
            <a:off x="6355080" y="2560320"/>
            <a:ext cx="493776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Base de données relationnelle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ManyToMany self-référencées, migrations</a:t>
            </a:r>
            <a:endParaRPr lang="en-US" sz="1200" dirty="0"/>
          </a:p>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Accès aux données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ORM Django, filtrage</a:t>
            </a:r>
            <a:endParaRPr lang="en-US" sz="1200" dirty="0"/>
          </a:p>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Composants métier serveur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verifier_compatibilite(), get_compatibles()</a:t>
            </a:r>
            <a:endParaRPr lang="en-US" sz="1200" dirty="0"/>
          </a:p>
          <a:p>
            <a:pPr marL="342900" indent="-342900">
              <a:lnSpc>
                <a:spcPct val="120000"/>
              </a:lnSpc>
              <a:spcAft>
                <a:spcPts val="1000"/>
              </a:spcAft>
              <a:buSzPct val="100000"/>
              <a:buChar char="•"/>
            </a:pPr>
            <a:r>
              <a:rPr lang="en-US" sz="1200" b="1" dirty="0">
                <a:solidFill>
                  <a:srgbClr val="F5F1E6"/>
                </a:solidFill>
                <a:latin typeface="Calibri" pitchFamily="34" charset="0"/>
                <a:ea typeface="Calibri" pitchFamily="34" charset="-122"/>
                <a:cs typeface="Calibri" pitchFamily="34" charset="-120"/>
              </a:rPr>
              <a:t>Cahier de tests — </a:t>
            </a:r>
            <a:pPr indent="0" marL="0">
              <a:lnSpc>
                <a:spcPct val="120000"/>
              </a:lnSpc>
              <a:spcAft>
                <a:spcPts val="1000"/>
              </a:spcAft>
              <a:buNone/>
            </a:pPr>
            <a:r>
              <a:rPr lang="en-US" sz="1200" dirty="0">
                <a:solidFill>
                  <a:srgbClr val="F5F1E6"/>
                </a:solidFill>
                <a:latin typeface="Calibri" pitchFamily="34" charset="0"/>
                <a:ea typeface="Calibri" pitchFamily="34" charset="-122"/>
                <a:cs typeface="Calibri" pitchFamily="34" charset="-120"/>
              </a:rPr>
              <a:t>14 tests unitaires documentés</a:t>
            </a:r>
            <a:endParaRPr lang="en-US" sz="1200" dirty="0"/>
          </a:p>
        </p:txBody>
      </p:sp>
      <p:sp>
        <p:nvSpPr>
          <p:cNvPr id="10" name="Text 8"/>
          <p:cNvSpPr txBox="1"/>
          <p:nvPr/>
        </p:nvSpPr>
        <p:spPr>
          <a:xfrm>
            <a:off x="11002975" y="6400800"/>
            <a:ext cx="914400" cy="274320"/>
          </a:xfrm>
          <a:prstGeom prst="rect">
            <a:avLst/>
          </a:prstGeom>
          <a:noFill/>
          <a:ln/>
        </p:spPr>
        <p:txBody>
          <a:bodyPr wrap="square" lIns="0" tIns="0" rIns="0" bIns="0" rtlCol="0" anchor="ctr"/>
          <a:lstStyle/>
          <a:p>
            <a:pPr algn="r" indent="0" marL="0">
              <a:buNone/>
            </a:pPr>
            <a:r>
              <a:rPr lang="en-US" sz="1000" dirty="0">
                <a:solidFill>
                  <a:srgbClr val="6E7C73"/>
                </a:solidFill>
                <a:latin typeface="Calibri" pitchFamily="34" charset="0"/>
                <a:ea typeface="Calibri" pitchFamily="34" charset="-122"/>
                <a:cs typeface="Calibri" pitchFamily="34" charset="-120"/>
              </a:rPr>
              <a:t>13 / 14</a:t>
            </a:r>
            <a:endParaRPr lang="en-US" sz="1000" dirty="0"/>
          </a:p>
        </p:txBody>
      </p:sp>
      <p:sp>
        <p:nvSpPr>
          <p:cNvPr id="11" name="Text 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6E7C73"/>
                </a:solidFill>
                <a:latin typeface="Calibri" pitchFamily="34" charset="0"/>
                <a:ea typeface="Calibri" pitchFamily="34" charset="-122"/>
                <a:cs typeface="Calibri" pitchFamily="34" charset="-120"/>
              </a:rPr>
              <a:t>JWE — Jurassic World Enclos  ·  Ivann RAMBAUD  ·  TP-01280 DWWM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E23"/>
        </a:solidFill>
      </p:bgPr>
    </p:bg>
    <p:spTree>
      <p:nvGrpSpPr>
        <p:cNvPr id="1" name=""/>
        <p:cNvGrpSpPr/>
        <p:nvPr/>
      </p:nvGrpSpPr>
      <p:grpSpPr>
        <a:xfrm>
          <a:off x="0" y="0"/>
          <a:ext cx="0" cy="0"/>
          <a:chOff x="0" y="0"/>
          <a:chExt cx="0" cy="0"/>
        </a:xfrm>
      </p:grpSpPr>
      <p:sp>
        <p:nvSpPr>
          <p:cNvPr id="2" name="Text 0"/>
          <p:cNvSpPr txBox="1"/>
          <p:nvPr/>
        </p:nvSpPr>
        <p:spPr>
          <a:xfrm>
            <a:off x="548640" y="914400"/>
            <a:ext cx="10058400" cy="1737360"/>
          </a:xfrm>
          <a:prstGeom prst="rect">
            <a:avLst/>
          </a:prstGeom>
          <a:noFill/>
          <a:ln/>
        </p:spPr>
        <p:txBody>
          <a:bodyPr wrap="square" lIns="0" tIns="0" rIns="0" bIns="0" rtlCol="0" anchor="ctr"/>
          <a:lstStyle/>
          <a:p>
            <a:pPr marL="342900" indent="-342900">
              <a:lnSpc>
                <a:spcPct val="125000"/>
              </a:lnSpc>
              <a:spcAft>
                <a:spcPts val="1400"/>
              </a:spcAft>
              <a:buSzPct val="100000"/>
              <a:buChar char="•"/>
            </a:pPr>
            <a:r>
              <a:rPr lang="en-US" sz="1500" dirty="0">
                <a:solidFill>
                  <a:srgbClr val="F5F1E6"/>
                </a:solidFill>
                <a:latin typeface="Calibri" pitchFamily="34" charset="0"/>
                <a:ea typeface="Calibri" pitchFamily="34" charset="-122"/>
                <a:cs typeface="Calibri" pitchFamily="34" charset="-120"/>
              </a:rPr>
              <a:t>Né d'un besoin identifié en jouant, développé du modèle de données jusqu'au déploiement en production.</a:t>
            </a:r>
            <a:endParaRPr lang="en-US" sz="1500" dirty="0"/>
          </a:p>
          <a:p>
            <a:pPr marL="342900" indent="-342900">
              <a:lnSpc>
                <a:spcPct val="125000"/>
              </a:lnSpc>
              <a:spcAft>
                <a:spcPts val="1400"/>
              </a:spcAft>
              <a:buSzPct val="100000"/>
              <a:buChar char="•"/>
            </a:pPr>
            <a:r>
              <a:rPr lang="en-US" sz="1500" dirty="0">
                <a:solidFill>
                  <a:srgbClr val="F5F1E6"/>
                </a:solidFill>
                <a:latin typeface="Calibri" pitchFamily="34" charset="0"/>
                <a:ea typeface="Calibri" pitchFamily="34" charset="-122"/>
                <a:cs typeface="Calibri" pitchFamily="34" charset="-120"/>
              </a:rPr>
              <a:t>Confronté à des incidents réels — sécurité, déploiement — diagnostiqués et corrigés en autonomie.</a:t>
            </a:r>
            <a:endParaRPr lang="en-US" sz="1500" dirty="0"/>
          </a:p>
          <a:p>
            <a:pPr marL="342900" indent="-342900">
              <a:lnSpc>
                <a:spcPct val="125000"/>
              </a:lnSpc>
              <a:spcAft>
                <a:spcPts val="1400"/>
              </a:spcAft>
              <a:buSzPct val="100000"/>
              <a:buChar char="•"/>
            </a:pPr>
            <a:r>
              <a:rPr lang="en-US" sz="1500" dirty="0">
                <a:solidFill>
                  <a:srgbClr val="F5F1E6"/>
                </a:solidFill>
                <a:latin typeface="Calibri" pitchFamily="34" charset="0"/>
                <a:ea typeface="Calibri" pitchFamily="34" charset="-122"/>
                <a:cs typeface="Calibri" pitchFamily="34" charset="-120"/>
              </a:rPr>
              <a:t>Un axe de progression clair et assumé : approfondir ma maîtrise fine du langage Python.</a:t>
            </a:r>
            <a:endParaRPr lang="en-US" sz="1500" dirty="0"/>
          </a:p>
        </p:txBody>
      </p:sp>
      <p:sp>
        <p:nvSpPr>
          <p:cNvPr id="3" name="Shape 1"/>
          <p:cNvSpPr/>
          <p:nvPr/>
        </p:nvSpPr>
        <p:spPr>
          <a:xfrm>
            <a:off x="548640" y="3017520"/>
            <a:ext cx="548640" cy="36576"/>
          </a:xfrm>
          <a:prstGeom prst="rect">
            <a:avLst/>
          </a:prstGeom>
          <a:solidFill>
            <a:srgbClr val="C9A227"/>
          </a:solidFill>
          <a:ln/>
        </p:spPr>
      </p:sp>
      <p:sp>
        <p:nvSpPr>
          <p:cNvPr id="4" name="Text 2"/>
          <p:cNvSpPr txBox="1"/>
          <p:nvPr/>
        </p:nvSpPr>
        <p:spPr>
          <a:xfrm>
            <a:off x="548640" y="3200400"/>
            <a:ext cx="9144000" cy="548640"/>
          </a:xfrm>
          <a:prstGeom prst="rect">
            <a:avLst/>
          </a:prstGeom>
          <a:noFill/>
          <a:ln/>
        </p:spPr>
        <p:txBody>
          <a:bodyPr wrap="square" lIns="0" tIns="0" rIns="0" bIns="0"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Merci de votre attention — Questions ?</a:t>
            </a:r>
            <a:endParaRPr lang="en-US" sz="2400" dirty="0"/>
          </a:p>
        </p:txBody>
      </p:sp>
      <p:sp>
        <p:nvSpPr>
          <p:cNvPr id="5" name="Text 3"/>
          <p:cNvSpPr txBox="1"/>
          <p:nvPr/>
        </p:nvSpPr>
        <p:spPr>
          <a:xfrm>
            <a:off x="548640" y="3886200"/>
            <a:ext cx="9144000" cy="365760"/>
          </a:xfrm>
          <a:prstGeom prst="rect">
            <a:avLst/>
          </a:prstGeom>
          <a:noFill/>
          <a:ln/>
        </p:spPr>
        <p:txBody>
          <a:bodyPr wrap="square" lIns="0" tIns="0" rIns="0" bIns="0" rtlCol="0" anchor="ctr"/>
          <a:lstStyle/>
          <a:p>
            <a:pPr indent="0" marL="0">
              <a:buNone/>
            </a:pPr>
            <a:r>
              <a:rPr lang="en-US" sz="1200" dirty="0">
                <a:solidFill>
                  <a:srgbClr val="C7D0CA"/>
                </a:solidFill>
                <a:latin typeface="Calibri" pitchFamily="34" charset="0"/>
                <a:ea typeface="Calibri" pitchFamily="34" charset="-122"/>
                <a:cs typeface="Calibri" pitchFamily="34" charset="-120"/>
              </a:rPr>
              <a:t>Ivann RAMBAUD  ·  JWE — Jurassic World Enclos  ·  github.com/Ivann212/JWE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2026-09-23T15:03:46Z</dcterms:created>
  <dcterms:modified xsi:type="dcterms:W3CDTF">2026-09-23T15:03:46Z</dcterms:modified>
</cp:coreProperties>
</file>